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Nunito"/>
      <p:regular r:id="rId21"/>
      <p:bold r:id="rId22"/>
      <p:italic r:id="rId23"/>
      <p:boldItalic r:id="rId24"/>
    </p:embeddedFont>
    <p:embeddedFont>
      <p:font typeface="Open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Nunito-bold.fntdata"/><Relationship Id="rId21" Type="http://schemas.openxmlformats.org/officeDocument/2006/relationships/font" Target="fonts/Nunito-regular.fntdata"/><Relationship Id="rId24" Type="http://schemas.openxmlformats.org/officeDocument/2006/relationships/font" Target="fonts/Nunito-boldItalic.fntdata"/><Relationship Id="rId23" Type="http://schemas.openxmlformats.org/officeDocument/2006/relationships/font" Target="fonts/Nuni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bold.fntdata"/><Relationship Id="rId25" Type="http://schemas.openxmlformats.org/officeDocument/2006/relationships/font" Target="fonts/OpenSans-regular.fntdata"/><Relationship Id="rId28" Type="http://schemas.openxmlformats.org/officeDocument/2006/relationships/font" Target="fonts/OpenSans-boldItalic.fntdata"/><Relationship Id="rId27" Type="http://schemas.openxmlformats.org/officeDocument/2006/relationships/font" Target="fonts/Open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onlinelibrary.wiley.com/doi/pdfdirect/10.1111/ajag.12542"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Intro slide to put up as we prepare for the presentation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310dbca46d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310dbca46d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rgbClr val="1C1D1E"/>
                </a:solidFill>
                <a:highlight>
                  <a:srgbClr val="FFFFFF"/>
                </a:highlight>
                <a:latin typeface="Open Sans"/>
                <a:ea typeface="Open Sans"/>
                <a:cs typeface="Open Sans"/>
                <a:sym typeface="Open Sans"/>
              </a:rPr>
              <a:t>ALVIN</a:t>
            </a:r>
            <a:endParaRPr sz="1200">
              <a:solidFill>
                <a:srgbClr val="1C1D1E"/>
              </a:solidFill>
              <a:highlight>
                <a:srgbClr val="FFFFFF"/>
              </a:highlight>
              <a:latin typeface="Open Sans"/>
              <a:ea typeface="Open Sans"/>
              <a:cs typeface="Open Sans"/>
              <a:sym typeface="Open Sans"/>
            </a:endParaRPr>
          </a:p>
          <a:p>
            <a:pPr indent="0" lvl="0" marL="0" rtl="0" algn="l">
              <a:spcBef>
                <a:spcPts val="0"/>
              </a:spcBef>
              <a:spcAft>
                <a:spcPts val="0"/>
              </a:spcAft>
              <a:buNone/>
            </a:pPr>
            <a:r>
              <a:t/>
            </a:r>
            <a:endParaRPr sz="1200">
              <a:solidFill>
                <a:srgbClr val="1C1D1E"/>
              </a:solidFill>
              <a:highlight>
                <a:srgbClr val="FFFFFF"/>
              </a:highlight>
              <a:latin typeface="Open Sans"/>
              <a:ea typeface="Open Sans"/>
              <a:cs typeface="Open Sans"/>
              <a:sym typeface="Open Sans"/>
            </a:endParaRPr>
          </a:p>
          <a:p>
            <a:pPr indent="0" lvl="0" marL="0" rtl="0" algn="l">
              <a:spcBef>
                <a:spcPts val="0"/>
              </a:spcBef>
              <a:spcAft>
                <a:spcPts val="0"/>
              </a:spcAft>
              <a:buNone/>
            </a:pPr>
            <a:r>
              <a:rPr lang="en-GB" sz="1200">
                <a:solidFill>
                  <a:srgbClr val="1C1D1E"/>
                </a:solidFill>
                <a:highlight>
                  <a:srgbClr val="FFFFFF"/>
                </a:highlight>
                <a:latin typeface="Open Sans"/>
                <a:ea typeface="Open Sans"/>
                <a:cs typeface="Open Sans"/>
                <a:sym typeface="Open Sans"/>
              </a:rPr>
              <a:t>While researching we found this quote that encapsulated why we are developing this app. This research article from the </a:t>
            </a:r>
            <a:r>
              <a:rPr lang="en-GB" sz="1200">
                <a:solidFill>
                  <a:srgbClr val="1C1D1E"/>
                </a:solidFill>
                <a:highlight>
                  <a:srgbClr val="FFFFFF"/>
                </a:highlight>
                <a:latin typeface="Open Sans"/>
                <a:ea typeface="Open Sans"/>
                <a:cs typeface="Open Sans"/>
                <a:sym typeface="Open Sans"/>
              </a:rPr>
              <a:t>Australian</a:t>
            </a:r>
            <a:r>
              <a:rPr lang="en-GB" sz="1200">
                <a:solidFill>
                  <a:srgbClr val="1C1D1E"/>
                </a:solidFill>
                <a:highlight>
                  <a:srgbClr val="FFFFFF"/>
                </a:highlight>
                <a:latin typeface="Open Sans"/>
                <a:ea typeface="Open Sans"/>
                <a:cs typeface="Open Sans"/>
                <a:sym typeface="Open Sans"/>
              </a:rPr>
              <a:t> Journal on Aging reported that “ Over the five-year period [2011 - 2015], 130 missing person cases were people with dementia. 62% missing persons travelled on foot and were last seen at home. Reports described 92 (71%) of the individuals being found. Of these, 60% were found well, 20% were found injured, and 20% were deceased.”</a:t>
            </a:r>
            <a:endParaRPr sz="1200">
              <a:solidFill>
                <a:srgbClr val="1C1D1E"/>
              </a:solidFill>
              <a:highlight>
                <a:srgbClr val="FFFFFF"/>
              </a:highlight>
              <a:latin typeface="Open Sans"/>
              <a:ea typeface="Open Sans"/>
              <a:cs typeface="Open Sans"/>
              <a:sym typeface="Open Sans"/>
            </a:endParaRPr>
          </a:p>
          <a:p>
            <a:pPr indent="0" lvl="0" marL="0" rtl="0" algn="l">
              <a:spcBef>
                <a:spcPts val="0"/>
              </a:spcBef>
              <a:spcAft>
                <a:spcPts val="0"/>
              </a:spcAft>
              <a:buNone/>
            </a:pPr>
            <a:r>
              <a:t/>
            </a:r>
            <a:endParaRPr sz="1200">
              <a:solidFill>
                <a:srgbClr val="1C1D1E"/>
              </a:solidFill>
              <a:highlight>
                <a:srgbClr val="FFFFFF"/>
              </a:highlight>
              <a:latin typeface="Open Sans"/>
              <a:ea typeface="Open Sans"/>
              <a:cs typeface="Open Sans"/>
              <a:sym typeface="Open Sans"/>
            </a:endParaRPr>
          </a:p>
          <a:p>
            <a:pPr indent="-304800" lvl="0" marL="457200" rtl="0" algn="l">
              <a:spcBef>
                <a:spcPts val="0"/>
              </a:spcBef>
              <a:spcAft>
                <a:spcPts val="0"/>
              </a:spcAft>
              <a:buClr>
                <a:srgbClr val="1C1D1E"/>
              </a:buClr>
              <a:buSzPts val="1200"/>
              <a:buFont typeface="Open Sans"/>
              <a:buChar char="-"/>
            </a:pPr>
            <a:r>
              <a:rPr lang="en-GB" sz="1200">
                <a:solidFill>
                  <a:schemeClr val="dk1"/>
                </a:solidFill>
                <a:latin typeface="Times New Roman"/>
                <a:ea typeface="Times New Roman"/>
                <a:cs typeface="Times New Roman"/>
                <a:sym typeface="Times New Roman"/>
              </a:rPr>
              <a:t>M. MacAndrew, L. Schnitker, N. Shepherd and E. Beattie, “People with dementia getting lost in Australia: Dementia related missing person reports in the media, ” </a:t>
            </a:r>
            <a:r>
              <a:rPr i="1" lang="en-GB" sz="1200">
                <a:solidFill>
                  <a:schemeClr val="dk1"/>
                </a:solidFill>
                <a:latin typeface="Times New Roman"/>
                <a:ea typeface="Times New Roman"/>
                <a:cs typeface="Times New Roman"/>
                <a:sym typeface="Times New Roman"/>
              </a:rPr>
              <a:t>Australian Journal on Aging, </a:t>
            </a:r>
            <a:r>
              <a:rPr lang="en-GB" sz="1200">
                <a:solidFill>
                  <a:schemeClr val="dk1"/>
                </a:solidFill>
                <a:latin typeface="Times New Roman"/>
                <a:ea typeface="Times New Roman"/>
                <a:cs typeface="Times New Roman"/>
                <a:sym typeface="Times New Roman"/>
              </a:rPr>
              <a:t>vol. 37 no. 3, September, 2018. [Online] Available: </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rgbClr val="1C1D1E"/>
              </a:buClr>
              <a:buSzPts val="1200"/>
              <a:buFont typeface="Open Sans"/>
              <a:buChar char="-"/>
            </a:pPr>
            <a:r>
              <a:rPr lang="en-GB" sz="1200" u="sng">
                <a:solidFill>
                  <a:srgbClr val="1155CC"/>
                </a:solidFill>
                <a:latin typeface="Times New Roman"/>
                <a:ea typeface="Times New Roman"/>
                <a:cs typeface="Times New Roman"/>
                <a:sym typeface="Times New Roman"/>
                <a:hlinkClick r:id="rId2">
                  <a:extLst>
                    <a:ext uri="{A12FA001-AC4F-418D-AE19-62706E023703}">
                      <ahyp:hlinkClr val="tx"/>
                    </a:ext>
                  </a:extLst>
                </a:hlinkClick>
              </a:rPr>
              <a:t>https://onlinelibrary.wiley.com/doi/pdfdirect/10.1111/ajag.12542</a:t>
            </a:r>
            <a:r>
              <a:rPr lang="en-GB" sz="1200">
                <a:solidFill>
                  <a:schemeClr val="dk1"/>
                </a:solidFill>
                <a:latin typeface="Times New Roman"/>
                <a:ea typeface="Times New Roman"/>
                <a:cs typeface="Times New Roman"/>
                <a:sym typeface="Times New Roman"/>
              </a:rPr>
              <a:t>  [Accessed Jun.2, 2022]</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310dbca46d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310dbca46d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ALVIN</a:t>
            </a:r>
            <a:endParaRPr/>
          </a:p>
          <a:p>
            <a:pPr indent="-298450" lvl="0" marL="457200" rtl="0" algn="l">
              <a:spcBef>
                <a:spcPts val="1000"/>
              </a:spcBef>
              <a:spcAft>
                <a:spcPts val="0"/>
              </a:spcAft>
              <a:buSzPts val="1100"/>
              <a:buChar char="●"/>
            </a:pPr>
            <a:r>
              <a:rPr lang="en-GB"/>
              <a:t>Stroll safe is a monitoring and information application for PWD and their caregivers</a:t>
            </a:r>
            <a:endParaRPr/>
          </a:p>
          <a:p>
            <a:pPr indent="-298450" lvl="0" marL="457200" rtl="0" algn="l">
              <a:spcBef>
                <a:spcPts val="1000"/>
              </a:spcBef>
              <a:spcAft>
                <a:spcPts val="0"/>
              </a:spcAft>
              <a:buSzPts val="1100"/>
              <a:buChar char="●"/>
            </a:pPr>
            <a:r>
              <a:rPr lang="en-GB"/>
              <a:t>The application will promote autonomy for PWD while reducing the risks of unfavourable </a:t>
            </a:r>
            <a:r>
              <a:rPr lang="en-GB"/>
              <a:t>outcomes</a:t>
            </a:r>
            <a:r>
              <a:rPr lang="en-GB"/>
              <a:t> such as injury or death when going out for a stroll on their own</a:t>
            </a:r>
            <a:endParaRPr/>
          </a:p>
          <a:p>
            <a:pPr indent="-298450" lvl="0" marL="457200" rtl="0" algn="l">
              <a:spcBef>
                <a:spcPts val="1000"/>
              </a:spcBef>
              <a:spcAft>
                <a:spcPts val="1000"/>
              </a:spcAft>
              <a:buSzPts val="1100"/>
              <a:buChar char="●"/>
            </a:pPr>
            <a:r>
              <a:rPr lang="en-GB"/>
              <a:t>The application can also hold current personal information they would need access to every day as well as up-to-date medical information in case of an emergency.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32a8aa406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32a8aa406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ALVIN: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Our app will target two groups of people, those with dementia and their caregivers and loved ones. Through research, we believe our application will be most effect for PWD in [4] early and middle stages (2-5) </a:t>
            </a:r>
            <a:r>
              <a:rPr lang="en-GB"/>
              <a:t>because</a:t>
            </a:r>
            <a:r>
              <a:rPr lang="en-GB"/>
              <a:t> PWDs still have the ability to be </a:t>
            </a:r>
            <a:r>
              <a:rPr lang="en-GB"/>
              <a:t>independent, but are often forgetful and unable to remember recent events such as how they go to their current location.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 hope that our application will ease the stress off of caregivers and family in case they can’t find their loved one.</a:t>
            </a:r>
            <a:endParaRPr/>
          </a:p>
          <a:p>
            <a:pPr indent="0" lvl="0" marL="0" rtl="0" algn="l">
              <a:spcBef>
                <a:spcPts val="0"/>
              </a:spcBef>
              <a:spcAft>
                <a:spcPts val="0"/>
              </a:spcAft>
              <a:buNone/>
            </a:pPr>
            <a:r>
              <a:rPr lang="en-GB"/>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310dbca46d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310dbca46d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32a8aa4061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32a8aa4061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32a8aa406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32a8aa406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rgbClr val="233A44"/>
              </a:buClr>
              <a:buSzPts val="1700"/>
              <a:buFont typeface="Calibri"/>
              <a:buChar char="●"/>
            </a:pPr>
            <a:r>
              <a:rPr lang="en-GB" sz="1700">
                <a:solidFill>
                  <a:srgbClr val="233A44"/>
                </a:solidFill>
                <a:latin typeface="Calibri"/>
                <a:ea typeface="Calibri"/>
                <a:cs typeface="Calibri"/>
                <a:sym typeface="Calibri"/>
              </a:rPr>
              <a:t>Notion for project management; managing, assigning, and keeping track of tasks</a:t>
            </a:r>
            <a:endParaRPr sz="1700">
              <a:solidFill>
                <a:srgbClr val="233A44"/>
              </a:solidFill>
              <a:latin typeface="Calibri"/>
              <a:ea typeface="Calibri"/>
              <a:cs typeface="Calibri"/>
              <a:sym typeface="Calibri"/>
            </a:endParaRPr>
          </a:p>
          <a:p>
            <a:pPr indent="-336550" lvl="0" marL="457200" rtl="0" algn="l">
              <a:lnSpc>
                <a:spcPct val="115000"/>
              </a:lnSpc>
              <a:spcBef>
                <a:spcPts val="0"/>
              </a:spcBef>
              <a:spcAft>
                <a:spcPts val="0"/>
              </a:spcAft>
              <a:buClr>
                <a:srgbClr val="233A44"/>
              </a:buClr>
              <a:buSzPts val="1700"/>
              <a:buFont typeface="Calibri"/>
              <a:buChar char="●"/>
            </a:pPr>
            <a:r>
              <a:rPr lang="en-GB" sz="1700">
                <a:solidFill>
                  <a:srgbClr val="233A44"/>
                </a:solidFill>
                <a:latin typeface="Calibri"/>
                <a:ea typeface="Calibri"/>
                <a:cs typeface="Calibri"/>
                <a:sym typeface="Calibri"/>
              </a:rPr>
              <a:t>Android Studio as it has android emulators, use for developing and testing.</a:t>
            </a:r>
            <a:endParaRPr sz="1700">
              <a:solidFill>
                <a:srgbClr val="233A44"/>
              </a:solidFill>
              <a:latin typeface="Calibri"/>
              <a:ea typeface="Calibri"/>
              <a:cs typeface="Calibri"/>
              <a:sym typeface="Calibri"/>
            </a:endParaRPr>
          </a:p>
          <a:p>
            <a:pPr indent="-336550" lvl="0" marL="457200" rtl="0" algn="l">
              <a:lnSpc>
                <a:spcPct val="115000"/>
              </a:lnSpc>
              <a:spcBef>
                <a:spcPts val="0"/>
              </a:spcBef>
              <a:spcAft>
                <a:spcPts val="0"/>
              </a:spcAft>
              <a:buClr>
                <a:srgbClr val="233A44"/>
              </a:buClr>
              <a:buSzPts val="1700"/>
              <a:buFont typeface="Calibri"/>
              <a:buChar char="●"/>
            </a:pPr>
            <a:r>
              <a:rPr lang="en-GB" sz="1700">
                <a:solidFill>
                  <a:srgbClr val="233A44"/>
                </a:solidFill>
                <a:latin typeface="Calibri"/>
                <a:ea typeface="Calibri"/>
                <a:cs typeface="Calibri"/>
                <a:sym typeface="Calibri"/>
              </a:rPr>
              <a:t>Gitlab for version control / CI/CD as its required</a:t>
            </a:r>
            <a:endParaRPr sz="1700">
              <a:solidFill>
                <a:srgbClr val="233A44"/>
              </a:solidFill>
              <a:latin typeface="Calibri"/>
              <a:ea typeface="Calibri"/>
              <a:cs typeface="Calibri"/>
              <a:sym typeface="Calibri"/>
            </a:endParaRPr>
          </a:p>
          <a:p>
            <a:pPr indent="-336550" lvl="0" marL="457200" rtl="0" algn="l">
              <a:lnSpc>
                <a:spcPct val="115000"/>
              </a:lnSpc>
              <a:spcBef>
                <a:spcPts val="0"/>
              </a:spcBef>
              <a:spcAft>
                <a:spcPts val="0"/>
              </a:spcAft>
              <a:buClr>
                <a:srgbClr val="233A44"/>
              </a:buClr>
              <a:buSzPts val="1700"/>
              <a:buFont typeface="Calibri"/>
              <a:buChar char="●"/>
            </a:pPr>
            <a:r>
              <a:rPr lang="en-GB" sz="1700">
                <a:solidFill>
                  <a:srgbClr val="233A44"/>
                </a:solidFill>
                <a:latin typeface="Calibri"/>
                <a:ea typeface="Calibri"/>
                <a:cs typeface="Calibri"/>
                <a:sym typeface="Calibri"/>
              </a:rPr>
              <a:t>We will be using Java to develop our application</a:t>
            </a:r>
            <a:endParaRPr sz="1700">
              <a:solidFill>
                <a:srgbClr val="233A44"/>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310dbca46d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310dbca46d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rgbClr val="233A44"/>
              </a:buClr>
              <a:buSzPts val="1300"/>
              <a:buFont typeface="Calibri"/>
              <a:buChar char="●"/>
            </a:pPr>
            <a:r>
              <a:rPr lang="en-GB" sz="1300">
                <a:solidFill>
                  <a:srgbClr val="233A44"/>
                </a:solidFill>
                <a:latin typeface="Calibri"/>
                <a:ea typeface="Calibri"/>
                <a:cs typeface="Calibri"/>
                <a:sym typeface="Calibri"/>
              </a:rPr>
              <a:t>Now I’m going to talk about why our application works so well on the mobile platform.</a:t>
            </a:r>
            <a:endParaRPr sz="1300">
              <a:solidFill>
                <a:srgbClr val="233A44"/>
              </a:solidFill>
              <a:latin typeface="Calibri"/>
              <a:ea typeface="Calibri"/>
              <a:cs typeface="Calibri"/>
              <a:sym typeface="Calibri"/>
            </a:endParaRPr>
          </a:p>
          <a:p>
            <a:pPr indent="0" lvl="0" marL="457200" rtl="0" algn="l">
              <a:spcBef>
                <a:spcPts val="0"/>
              </a:spcBef>
              <a:spcAft>
                <a:spcPts val="0"/>
              </a:spcAft>
              <a:buNone/>
            </a:pPr>
            <a:r>
              <a:t/>
            </a:r>
            <a:endParaRPr sz="1300">
              <a:solidFill>
                <a:srgbClr val="233A44"/>
              </a:solidFill>
              <a:latin typeface="Calibri"/>
              <a:ea typeface="Calibri"/>
              <a:cs typeface="Calibri"/>
              <a:sym typeface="Calibri"/>
            </a:endParaRPr>
          </a:p>
          <a:p>
            <a:pPr indent="-311150" lvl="0" marL="457200" rtl="0" algn="l">
              <a:spcBef>
                <a:spcPts val="0"/>
              </a:spcBef>
              <a:spcAft>
                <a:spcPts val="0"/>
              </a:spcAft>
              <a:buClr>
                <a:srgbClr val="233A44"/>
              </a:buClr>
              <a:buSzPts val="1300"/>
              <a:buFont typeface="Calibri"/>
              <a:buChar char="●"/>
            </a:pPr>
            <a:r>
              <a:rPr lang="en-GB" sz="1300">
                <a:solidFill>
                  <a:srgbClr val="233A44"/>
                </a:solidFill>
                <a:latin typeface="Calibri"/>
                <a:ea typeface="Calibri"/>
                <a:cs typeface="Calibri"/>
                <a:sym typeface="Calibri"/>
              </a:rPr>
              <a:t>Since a good </a:t>
            </a:r>
            <a:r>
              <a:rPr lang="en-GB" sz="1300">
                <a:solidFill>
                  <a:srgbClr val="233A44"/>
                </a:solidFill>
                <a:latin typeface="Calibri"/>
                <a:ea typeface="Calibri"/>
                <a:cs typeface="Calibri"/>
                <a:sym typeface="Calibri"/>
              </a:rPr>
              <a:t>portion</a:t>
            </a:r>
            <a:r>
              <a:rPr lang="en-GB" sz="1300">
                <a:solidFill>
                  <a:srgbClr val="233A44"/>
                </a:solidFill>
                <a:latin typeface="Calibri"/>
                <a:ea typeface="Calibri"/>
                <a:cs typeface="Calibri"/>
                <a:sym typeface="Calibri"/>
              </a:rPr>
              <a:t> of the population have mobile devices, it makes it very easy for a caretaker, family member, and person with dementia to just download the application and get it set up.</a:t>
            </a:r>
            <a:endParaRPr sz="1300">
              <a:solidFill>
                <a:srgbClr val="233A44"/>
              </a:solidFill>
              <a:latin typeface="Calibri"/>
              <a:ea typeface="Calibri"/>
              <a:cs typeface="Calibri"/>
              <a:sym typeface="Calibri"/>
            </a:endParaRPr>
          </a:p>
          <a:p>
            <a:pPr indent="0" lvl="0" marL="457200" rtl="0" algn="l">
              <a:spcBef>
                <a:spcPts val="0"/>
              </a:spcBef>
              <a:spcAft>
                <a:spcPts val="0"/>
              </a:spcAft>
              <a:buNone/>
            </a:pPr>
            <a:r>
              <a:t/>
            </a:r>
            <a:endParaRPr sz="1300">
              <a:solidFill>
                <a:srgbClr val="233A44"/>
              </a:solidFill>
              <a:latin typeface="Calibri"/>
              <a:ea typeface="Calibri"/>
              <a:cs typeface="Calibri"/>
              <a:sym typeface="Calibri"/>
            </a:endParaRPr>
          </a:p>
          <a:p>
            <a:pPr indent="-311150" lvl="0" marL="457200" rtl="0" algn="l">
              <a:spcBef>
                <a:spcPts val="0"/>
              </a:spcBef>
              <a:spcAft>
                <a:spcPts val="0"/>
              </a:spcAft>
              <a:buClr>
                <a:srgbClr val="233A44"/>
              </a:buClr>
              <a:buSzPts val="1300"/>
              <a:buFont typeface="Calibri"/>
              <a:buChar char="●"/>
            </a:pPr>
            <a:r>
              <a:rPr lang="en-GB" sz="1300">
                <a:solidFill>
                  <a:srgbClr val="233A44"/>
                </a:solidFill>
                <a:latin typeface="Calibri"/>
                <a:ea typeface="Calibri"/>
                <a:cs typeface="Calibri"/>
                <a:sym typeface="Calibri"/>
              </a:rPr>
              <a:t>We are so used to having our cell phone with us throughout the day, everyday it makes it a great </a:t>
            </a:r>
            <a:r>
              <a:rPr lang="en-GB" sz="1300">
                <a:solidFill>
                  <a:srgbClr val="233A44"/>
                </a:solidFill>
                <a:latin typeface="Calibri"/>
                <a:ea typeface="Calibri"/>
                <a:cs typeface="Calibri"/>
                <a:sym typeface="Calibri"/>
              </a:rPr>
              <a:t>candidate</a:t>
            </a:r>
            <a:r>
              <a:rPr lang="en-GB" sz="1300">
                <a:solidFill>
                  <a:srgbClr val="233A44"/>
                </a:solidFill>
                <a:latin typeface="Calibri"/>
                <a:ea typeface="Calibri"/>
                <a:cs typeface="Calibri"/>
                <a:sym typeface="Calibri"/>
              </a:rPr>
              <a:t> for an alert system for ensuring our loved ones are safe and where they are </a:t>
            </a:r>
            <a:r>
              <a:rPr lang="en-GB" sz="1300">
                <a:solidFill>
                  <a:srgbClr val="233A44"/>
                </a:solidFill>
                <a:latin typeface="Calibri"/>
                <a:ea typeface="Calibri"/>
                <a:cs typeface="Calibri"/>
                <a:sym typeface="Calibri"/>
              </a:rPr>
              <a:t>supposed</a:t>
            </a:r>
            <a:r>
              <a:rPr lang="en-GB" sz="1300">
                <a:solidFill>
                  <a:srgbClr val="233A44"/>
                </a:solidFill>
                <a:latin typeface="Calibri"/>
                <a:ea typeface="Calibri"/>
                <a:cs typeface="Calibri"/>
                <a:sym typeface="Calibri"/>
              </a:rPr>
              <a:t> to be. </a:t>
            </a:r>
            <a:br>
              <a:rPr lang="en-GB" sz="1300">
                <a:solidFill>
                  <a:srgbClr val="233A44"/>
                </a:solidFill>
                <a:latin typeface="Calibri"/>
                <a:ea typeface="Calibri"/>
                <a:cs typeface="Calibri"/>
                <a:sym typeface="Calibri"/>
              </a:rPr>
            </a:br>
            <a:endParaRPr sz="1300">
              <a:solidFill>
                <a:srgbClr val="233A44"/>
              </a:solidFill>
              <a:latin typeface="Calibri"/>
              <a:ea typeface="Calibri"/>
              <a:cs typeface="Calibri"/>
              <a:sym typeface="Calibri"/>
            </a:endParaRPr>
          </a:p>
          <a:p>
            <a:pPr indent="-311150" lvl="0" marL="457200" rtl="0" algn="l">
              <a:spcBef>
                <a:spcPts val="0"/>
              </a:spcBef>
              <a:spcAft>
                <a:spcPts val="0"/>
              </a:spcAft>
              <a:buClr>
                <a:srgbClr val="233A44"/>
              </a:buClr>
              <a:buSzPts val="1300"/>
              <a:buFont typeface="Calibri"/>
              <a:buChar char="●"/>
            </a:pPr>
            <a:r>
              <a:rPr lang="en-GB" sz="1300">
                <a:solidFill>
                  <a:srgbClr val="233A44"/>
                </a:solidFill>
                <a:latin typeface="Calibri"/>
                <a:ea typeface="Calibri"/>
                <a:cs typeface="Calibri"/>
                <a:sym typeface="Calibri"/>
              </a:rPr>
              <a:t>Mobile devices are capable of calling emergency services, sending text messages, alert notifications and using location services to send and receive locations. With these core functionalities being present on almost all smartphones it allows our application to leverage them to make powerful features.</a:t>
            </a:r>
            <a:br>
              <a:rPr lang="en-GB" sz="1300">
                <a:solidFill>
                  <a:srgbClr val="233A44"/>
                </a:solidFill>
                <a:latin typeface="Calibri"/>
                <a:ea typeface="Calibri"/>
                <a:cs typeface="Calibri"/>
                <a:sym typeface="Calibri"/>
              </a:rPr>
            </a:br>
            <a:endParaRPr sz="1300">
              <a:solidFill>
                <a:srgbClr val="233A44"/>
              </a:solidFill>
              <a:latin typeface="Calibri"/>
              <a:ea typeface="Calibri"/>
              <a:cs typeface="Calibri"/>
              <a:sym typeface="Calibri"/>
            </a:endParaRPr>
          </a:p>
          <a:p>
            <a:pPr indent="-311150" lvl="0" marL="457200" rtl="0" algn="l">
              <a:spcBef>
                <a:spcPts val="0"/>
              </a:spcBef>
              <a:spcAft>
                <a:spcPts val="0"/>
              </a:spcAft>
              <a:buClr>
                <a:srgbClr val="233A44"/>
              </a:buClr>
              <a:buSzPts val="1300"/>
              <a:buFont typeface="Calibri"/>
              <a:buChar char="●"/>
            </a:pPr>
            <a:r>
              <a:rPr lang="en-GB" sz="1300">
                <a:solidFill>
                  <a:srgbClr val="233A44"/>
                </a:solidFill>
                <a:latin typeface="Calibri"/>
                <a:ea typeface="Calibri"/>
                <a:cs typeface="Calibri"/>
                <a:sym typeface="Calibri"/>
              </a:rPr>
              <a:t>Mobile devices allow for customizations of font sizes, colourblind modes, text to speech, and much more. </a:t>
            </a:r>
            <a:br>
              <a:rPr lang="en-GB" sz="1300">
                <a:solidFill>
                  <a:srgbClr val="233A44"/>
                </a:solidFill>
                <a:latin typeface="Calibri"/>
                <a:ea typeface="Calibri"/>
                <a:cs typeface="Calibri"/>
                <a:sym typeface="Calibri"/>
              </a:rPr>
            </a:br>
            <a:r>
              <a:rPr lang="en-GB" sz="1300">
                <a:solidFill>
                  <a:srgbClr val="233A44"/>
                </a:solidFill>
                <a:latin typeface="Calibri"/>
                <a:ea typeface="Calibri"/>
                <a:cs typeface="Calibri"/>
                <a:sym typeface="Calibri"/>
              </a:rPr>
              <a:t>These will greatly aid in making the application much better for elderly users which make up the majority of people with dementia.</a:t>
            </a:r>
            <a:br>
              <a:rPr lang="en-GB" sz="1300">
                <a:solidFill>
                  <a:srgbClr val="233A44"/>
                </a:solidFill>
                <a:latin typeface="Calibri"/>
                <a:ea typeface="Calibri"/>
                <a:cs typeface="Calibri"/>
                <a:sym typeface="Calibri"/>
              </a:rPr>
            </a:br>
            <a:br>
              <a:rPr lang="en-GB" sz="1300">
                <a:solidFill>
                  <a:srgbClr val="233A44"/>
                </a:solidFill>
                <a:latin typeface="Calibri"/>
                <a:ea typeface="Calibri"/>
                <a:cs typeface="Calibri"/>
                <a:sym typeface="Calibri"/>
              </a:rPr>
            </a:br>
            <a:endParaRPr sz="1300">
              <a:solidFill>
                <a:srgbClr val="233A44"/>
              </a:solidFill>
              <a:latin typeface="Calibri"/>
              <a:ea typeface="Calibri"/>
              <a:cs typeface="Calibri"/>
              <a:sym typeface="Calibri"/>
            </a:endParaRPr>
          </a:p>
          <a:p>
            <a:pPr indent="0" lvl="0" marL="0" rtl="0" algn="l">
              <a:spcBef>
                <a:spcPts val="0"/>
              </a:spcBef>
              <a:spcAft>
                <a:spcPts val="0"/>
              </a:spcAft>
              <a:buNone/>
            </a:pPr>
            <a:br>
              <a:rPr lang="en-GB"/>
            </a:br>
            <a:r>
              <a:rPr lang="en-GB"/>
              <a:t>Refrences - https://www.bankmycell.com/blog/how-many-phones-are-in-the-world#:~:text=According%20to%20Statista%2C%20the%20current,world's%20population%20owns%20a%20smartphone.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318796e0c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318796e0c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rgbClr val="233A44"/>
              </a:solidFill>
              <a:latin typeface="Calibri"/>
              <a:ea typeface="Calibri"/>
              <a:cs typeface="Calibri"/>
              <a:sym typeface="Calibri"/>
            </a:endParaRPr>
          </a:p>
          <a:p>
            <a:pPr indent="-311150" lvl="0" marL="457200" rtl="0" algn="l">
              <a:spcBef>
                <a:spcPts val="0"/>
              </a:spcBef>
              <a:spcAft>
                <a:spcPts val="0"/>
              </a:spcAft>
              <a:buClr>
                <a:srgbClr val="233A44"/>
              </a:buClr>
              <a:buSzPts val="1300"/>
              <a:buFont typeface="Calibri"/>
              <a:buChar char="●"/>
            </a:pPr>
            <a:r>
              <a:rPr lang="en-GB" sz="1300">
                <a:solidFill>
                  <a:srgbClr val="233A44"/>
                </a:solidFill>
                <a:latin typeface="Calibri"/>
                <a:ea typeface="Calibri"/>
                <a:cs typeface="Calibri"/>
                <a:sym typeface="Calibri"/>
              </a:rPr>
              <a:t>Given </a:t>
            </a:r>
            <a:r>
              <a:rPr lang="en-GB" sz="1300">
                <a:solidFill>
                  <a:srgbClr val="233A44"/>
                </a:solidFill>
                <a:latin typeface="Calibri"/>
                <a:ea typeface="Calibri"/>
                <a:cs typeface="Calibri"/>
                <a:sym typeface="Calibri"/>
              </a:rPr>
              <a:t>the current generation of people with dementia did not necessarily all grow up with technology so closely integrated with their lives, a challenge arises on getting them to use it to its full potential. This may mean that they may forget to keep their phone with them, or misplace it frequently. This is why we plan to implement features such as idle notifications, so caregivers are aware if the phone is no longer with the the person with dementia. And battery notifications so that we can ensure that the smartphone battery is always at a good level.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318796e0c0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318796e0c0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310dbca46d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310dbca46d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Our functionality is very similar to AirTags as with air tags you can:</a:t>
            </a:r>
            <a:br>
              <a:rPr lang="en-GB"/>
            </a:br>
            <a:endParaRPr/>
          </a:p>
          <a:p>
            <a:pPr indent="-298450" lvl="0" marL="457200" rtl="0" algn="l">
              <a:spcBef>
                <a:spcPts val="0"/>
              </a:spcBef>
              <a:spcAft>
                <a:spcPts val="0"/>
              </a:spcAft>
              <a:buSzPts val="1100"/>
              <a:buChar char="●"/>
            </a:pPr>
            <a:r>
              <a:rPr lang="en-GB"/>
              <a:t>Set multiple “safe” locations where you </a:t>
            </a:r>
            <a:r>
              <a:rPr lang="en-GB"/>
              <a:t>WON'T</a:t>
            </a:r>
            <a:r>
              <a:rPr lang="en-GB"/>
              <a:t> </a:t>
            </a:r>
            <a:r>
              <a:rPr lang="en-GB"/>
              <a:t>receive</a:t>
            </a:r>
            <a:r>
              <a:rPr lang="en-GB"/>
              <a:t> a notification if the airtag is left there.</a:t>
            </a:r>
            <a:endParaRPr/>
          </a:p>
          <a:p>
            <a:pPr indent="-298450" lvl="0" marL="457200" rtl="0" algn="l">
              <a:spcBef>
                <a:spcPts val="0"/>
              </a:spcBef>
              <a:spcAft>
                <a:spcPts val="0"/>
              </a:spcAft>
              <a:buSzPts val="1100"/>
              <a:buChar char="●"/>
            </a:pPr>
            <a:r>
              <a:rPr lang="en-GB"/>
              <a:t>Be notified if you have left the airtag behind</a:t>
            </a:r>
            <a:endParaRPr/>
          </a:p>
          <a:p>
            <a:pPr indent="-298450" lvl="0" marL="457200" rtl="0" algn="l">
              <a:spcBef>
                <a:spcPts val="0"/>
              </a:spcBef>
              <a:spcAft>
                <a:spcPts val="0"/>
              </a:spcAft>
              <a:buSzPts val="1100"/>
              <a:buChar char="●"/>
            </a:pPr>
            <a:r>
              <a:rPr lang="en-GB"/>
              <a:t>Show the location of the airtag at all times</a:t>
            </a:r>
            <a:endParaRPr/>
          </a:p>
          <a:p>
            <a:pPr indent="-298450" lvl="0" marL="457200" rtl="0" algn="l">
              <a:spcBef>
                <a:spcPts val="0"/>
              </a:spcBef>
              <a:spcAft>
                <a:spcPts val="0"/>
              </a:spcAft>
              <a:buSzPts val="1100"/>
              <a:buChar char="●"/>
            </a:pPr>
            <a:r>
              <a:rPr lang="en-GB"/>
              <a:t>Remind </a:t>
            </a:r>
            <a:r>
              <a:rPr lang="en-GB"/>
              <a:t>you</a:t>
            </a:r>
            <a:r>
              <a:rPr lang="en-GB"/>
              <a:t> to change the battery when it is low</a:t>
            </a:r>
            <a:endParaRPr/>
          </a:p>
          <a:p>
            <a:pPr indent="-298450" lvl="0" marL="457200" rtl="0" algn="l">
              <a:spcBef>
                <a:spcPts val="0"/>
              </a:spcBef>
              <a:spcAft>
                <a:spcPts val="0"/>
              </a:spcAft>
              <a:buSzPts val="1100"/>
              <a:buChar char="●"/>
            </a:pPr>
            <a:r>
              <a:rPr lang="en-GB"/>
              <a:t>If found by someone else they can call/text/email you to let you know they have </a:t>
            </a:r>
            <a:r>
              <a:rPr lang="en-GB"/>
              <a:t>found</a:t>
            </a:r>
            <a:r>
              <a:rPr lang="en-GB"/>
              <a:t> it</a:t>
            </a:r>
            <a:endParaRPr/>
          </a:p>
          <a:p>
            <a:pPr indent="-298450" lvl="0" marL="457200" rtl="0" algn="l">
              <a:spcBef>
                <a:spcPts val="0"/>
              </a:spcBef>
              <a:spcAft>
                <a:spcPts val="0"/>
              </a:spcAft>
              <a:buSzPts val="1100"/>
              <a:buChar char="●"/>
            </a:pPr>
            <a:r>
              <a:rPr lang="en-GB"/>
              <a:t>Can </a:t>
            </a:r>
            <a:r>
              <a:rPr lang="en-GB"/>
              <a:t>only</a:t>
            </a:r>
            <a:r>
              <a:rPr lang="en-GB"/>
              <a:t> be used by the user that setup the airtag</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differences:</a:t>
            </a:r>
            <a:endParaRPr/>
          </a:p>
          <a:p>
            <a:pPr indent="-298450" lvl="0" marL="457200" rtl="0" algn="l">
              <a:spcBef>
                <a:spcPts val="0"/>
              </a:spcBef>
              <a:spcAft>
                <a:spcPts val="0"/>
              </a:spcAft>
              <a:buSzPts val="1100"/>
              <a:buChar char="●"/>
            </a:pPr>
            <a:r>
              <a:rPr lang="en-GB"/>
              <a:t>UI is not </a:t>
            </a:r>
            <a:r>
              <a:rPr lang="en-GB"/>
              <a:t>geared</a:t>
            </a:r>
            <a:r>
              <a:rPr lang="en-GB"/>
              <a:t> toward elderly / people with dementia</a:t>
            </a:r>
            <a:endParaRPr/>
          </a:p>
          <a:p>
            <a:pPr indent="-298450" lvl="0" marL="457200" rtl="0" algn="l">
              <a:spcBef>
                <a:spcPts val="0"/>
              </a:spcBef>
              <a:spcAft>
                <a:spcPts val="0"/>
              </a:spcAft>
              <a:buSzPts val="1100"/>
              <a:buChar char="●"/>
            </a:pPr>
            <a:r>
              <a:rPr lang="en-GB">
                <a:solidFill>
                  <a:schemeClr val="dk1"/>
                </a:solidFill>
              </a:rPr>
              <a:t>Location is an address and not a customizable radius</a:t>
            </a:r>
            <a:endParaRPr/>
          </a:p>
          <a:p>
            <a:pPr indent="-298450" lvl="0" marL="457200" rtl="0" algn="l">
              <a:spcBef>
                <a:spcPts val="0"/>
              </a:spcBef>
              <a:spcAft>
                <a:spcPts val="0"/>
              </a:spcAft>
              <a:buSzPts val="1100"/>
              <a:buChar char="●"/>
            </a:pPr>
            <a:r>
              <a:rPr lang="en-GB"/>
              <a:t>No emergency calling</a:t>
            </a:r>
            <a:endParaRPr/>
          </a:p>
          <a:p>
            <a:pPr indent="-298450" lvl="0" marL="457200" rtl="0" algn="l">
              <a:spcBef>
                <a:spcPts val="0"/>
              </a:spcBef>
              <a:spcAft>
                <a:spcPts val="0"/>
              </a:spcAft>
              <a:buSzPts val="1100"/>
              <a:buChar char="●"/>
            </a:pPr>
            <a:r>
              <a:rPr lang="en-GB"/>
              <a:t>Can't</a:t>
            </a:r>
            <a:r>
              <a:rPr lang="en-GB"/>
              <a:t> notify family members or caretakers of location</a:t>
            </a:r>
            <a:endParaRPr/>
          </a:p>
          <a:p>
            <a:pPr indent="-298450" lvl="0" marL="457200" rtl="0" algn="l">
              <a:spcBef>
                <a:spcPts val="0"/>
              </a:spcBef>
              <a:spcAft>
                <a:spcPts val="0"/>
              </a:spcAft>
              <a:buSzPts val="1100"/>
              <a:buChar char="●"/>
            </a:pPr>
            <a:r>
              <a:rPr lang="en-GB"/>
              <a:t>Can't</a:t>
            </a:r>
            <a:r>
              <a:rPr lang="en-GB"/>
              <a:t> </a:t>
            </a:r>
            <a:r>
              <a:rPr lang="en-GB"/>
              <a:t>notify</a:t>
            </a:r>
            <a:r>
              <a:rPr lang="en-GB"/>
              <a:t> family members or caretakers when it leave a </a:t>
            </a:r>
            <a:r>
              <a:rPr lang="en-GB"/>
              <a:t>certain</a:t>
            </a:r>
            <a:r>
              <a:rPr lang="en-GB"/>
              <a:t> area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9.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onlinelibrary.wiley.com/doi/pdfdirect/10.1111/ajag.12542" TargetMode="External"/><Relationship Id="rId4" Type="http://schemas.openxmlformats.org/officeDocument/2006/relationships/hyperlink" Target="https://www.mountelizabeth.com.sg/healthplus/article/10-sports-injuries-with-lifelong-consequences" TargetMode="External"/><Relationship Id="rId5" Type="http://schemas.openxmlformats.org/officeDocument/2006/relationships/hyperlink" Target="https://secretmanchester.com/win-page-nhs-walk/" TargetMode="External"/><Relationship Id="rId6" Type="http://schemas.openxmlformats.org/officeDocument/2006/relationships/hyperlink" Target="https://www.mayoclinic.org/diseases-conditions/alzheimers-disease/in-depth/alzheimers-stages/art-20048448" TargetMode="External"/><Relationship Id="rId7" Type="http://schemas.openxmlformats.org/officeDocument/2006/relationships/hyperlink" Target="https://www.bankmycell.com/blog/how-many-phones-are-in-the-world#:~:text=According%20to%20Statista%2C%20the%20current,world's%20population%20owns%20a%20smartphon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457200" lvl="0" marL="914400" rtl="0" algn="l">
              <a:spcBef>
                <a:spcPts val="0"/>
              </a:spcBef>
              <a:spcAft>
                <a:spcPts val="0"/>
              </a:spcAft>
              <a:buNone/>
            </a:pPr>
            <a:r>
              <a:rPr lang="en-GB" sz="4400">
                <a:latin typeface="Roboto"/>
                <a:ea typeface="Roboto"/>
                <a:cs typeface="Roboto"/>
                <a:sym typeface="Roboto"/>
              </a:rPr>
              <a:t>Stroll Safe</a:t>
            </a:r>
            <a:endParaRPr sz="4400">
              <a:latin typeface="Roboto"/>
              <a:ea typeface="Roboto"/>
              <a:cs typeface="Roboto"/>
              <a:sym typeface="Roboto"/>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85000"/>
          </a:bodyPr>
          <a:lstStyle/>
          <a:p>
            <a:pPr indent="0" lvl="0" marL="0" rtl="0" algn="ctr">
              <a:spcBef>
                <a:spcPts val="0"/>
              </a:spcBef>
              <a:spcAft>
                <a:spcPts val="0"/>
              </a:spcAft>
              <a:buNone/>
            </a:pPr>
            <a:r>
              <a:rPr lang="en-GB"/>
              <a:t>Alex Bruma | Alvin Tsang | Kevin Chung | Pegah Aryadoost | Steve Statia</a:t>
            </a:r>
            <a:endParaRPr/>
          </a:p>
        </p:txBody>
      </p:sp>
      <p:sp>
        <p:nvSpPr>
          <p:cNvPr id="130" name="Google Shape;130;p13"/>
          <p:cNvSpPr txBox="1"/>
          <p:nvPr/>
        </p:nvSpPr>
        <p:spPr>
          <a:xfrm>
            <a:off x="1858700" y="2870725"/>
            <a:ext cx="5361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a:solidFill>
                  <a:schemeClr val="lt1"/>
                </a:solidFill>
                <a:latin typeface="Roboto"/>
                <a:ea typeface="Roboto"/>
                <a:cs typeface="Roboto"/>
                <a:sym typeface="Roboto"/>
              </a:rPr>
              <a:t>Locating your loved ones ❤</a:t>
            </a:r>
            <a:endParaRPr>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4"/>
          <p:cNvSpPr txBox="1"/>
          <p:nvPr>
            <p:ph idx="1" type="body"/>
          </p:nvPr>
        </p:nvSpPr>
        <p:spPr>
          <a:xfrm>
            <a:off x="819150" y="728450"/>
            <a:ext cx="7505700" cy="3710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aseline="30000" lang="en-GB" sz="2100">
                <a:solidFill>
                  <a:schemeClr val="accent5"/>
                </a:solidFill>
                <a:latin typeface="Roboto"/>
                <a:ea typeface="Roboto"/>
                <a:cs typeface="Roboto"/>
                <a:sym typeface="Roboto"/>
              </a:rPr>
              <a:t>[1]</a:t>
            </a:r>
            <a:r>
              <a:rPr lang="en-GB" sz="2000">
                <a:solidFill>
                  <a:schemeClr val="accent5"/>
                </a:solidFill>
                <a:latin typeface="Roboto"/>
                <a:ea typeface="Roboto"/>
                <a:cs typeface="Roboto"/>
                <a:sym typeface="Roboto"/>
              </a:rPr>
              <a:t>“Over the five year period, 130 missing person cases were reported…71% of the individuals being found. Of these, 60% were found well, 20% were found injured and 20% were found deceased.”</a:t>
            </a:r>
            <a:endParaRPr sz="2200">
              <a:latin typeface="Roboto"/>
              <a:ea typeface="Roboto"/>
              <a:cs typeface="Roboto"/>
              <a:sym typeface="Roboto"/>
            </a:endParaRPr>
          </a:p>
        </p:txBody>
      </p:sp>
      <p:pic>
        <p:nvPicPr>
          <p:cNvPr id="136" name="Google Shape;136;p14"/>
          <p:cNvPicPr preferRelativeResize="0"/>
          <p:nvPr/>
        </p:nvPicPr>
        <p:blipFill>
          <a:blip r:embed="rId3">
            <a:alphaModFix/>
          </a:blip>
          <a:stretch>
            <a:fillRect/>
          </a:stretch>
        </p:blipFill>
        <p:spPr>
          <a:xfrm>
            <a:off x="5515516" y="2731280"/>
            <a:ext cx="2461658" cy="1476995"/>
          </a:xfrm>
          <a:prstGeom prst="rect">
            <a:avLst/>
          </a:prstGeom>
          <a:noFill/>
          <a:ln>
            <a:noFill/>
          </a:ln>
          <a:effectLst>
            <a:outerShdw blurRad="57150" rotWithShape="0" algn="bl" dir="5400000" dist="19050">
              <a:srgbClr val="000000">
                <a:alpha val="50000"/>
              </a:srgbClr>
            </a:outerShdw>
          </a:effectLst>
        </p:spPr>
      </p:pic>
      <p:sp>
        <p:nvSpPr>
          <p:cNvPr id="137" name="Google Shape;137;p14"/>
          <p:cNvSpPr txBox="1"/>
          <p:nvPr/>
        </p:nvSpPr>
        <p:spPr>
          <a:xfrm>
            <a:off x="5566800" y="4362975"/>
            <a:ext cx="1909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800">
                <a:highlight>
                  <a:srgbClr val="FFFFFF"/>
                </a:highlight>
                <a:latin typeface="Times New Roman"/>
                <a:ea typeface="Times New Roman"/>
                <a:cs typeface="Times New Roman"/>
                <a:sym typeface="Times New Roman"/>
              </a:rPr>
              <a:t>Figure 1: Injury</a:t>
            </a:r>
            <a:endParaRPr sz="800">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GB" sz="800">
                <a:highlight>
                  <a:srgbClr val="FFFFFF"/>
                </a:highlight>
                <a:latin typeface="Times New Roman"/>
                <a:ea typeface="Times New Roman"/>
                <a:cs typeface="Times New Roman"/>
                <a:sym typeface="Times New Roman"/>
              </a:rPr>
              <a:t>Source: Adapted from [2]</a:t>
            </a:r>
            <a:endParaRPr sz="800">
              <a:latin typeface="Times New Roman"/>
              <a:ea typeface="Times New Roman"/>
              <a:cs typeface="Times New Roman"/>
              <a:sym typeface="Times New Roman"/>
            </a:endParaRPr>
          </a:p>
        </p:txBody>
      </p:sp>
      <p:pic>
        <p:nvPicPr>
          <p:cNvPr id="138" name="Google Shape;138;p14"/>
          <p:cNvPicPr preferRelativeResize="0"/>
          <p:nvPr/>
        </p:nvPicPr>
        <p:blipFill>
          <a:blip r:embed="rId4">
            <a:alphaModFix/>
          </a:blip>
          <a:stretch>
            <a:fillRect/>
          </a:stretch>
        </p:blipFill>
        <p:spPr>
          <a:xfrm>
            <a:off x="1074800" y="2749800"/>
            <a:ext cx="2559900" cy="1439950"/>
          </a:xfrm>
          <a:prstGeom prst="rect">
            <a:avLst/>
          </a:prstGeom>
          <a:noFill/>
          <a:ln>
            <a:noFill/>
          </a:ln>
          <a:effectLst>
            <a:outerShdw blurRad="57150" rotWithShape="0" algn="bl" dir="5400000" dist="19050">
              <a:srgbClr val="000000">
                <a:alpha val="50000"/>
              </a:srgbClr>
            </a:outerShdw>
          </a:effectLst>
        </p:spPr>
      </p:pic>
      <p:sp>
        <p:nvSpPr>
          <p:cNvPr id="139" name="Google Shape;139;p14"/>
          <p:cNvSpPr txBox="1"/>
          <p:nvPr/>
        </p:nvSpPr>
        <p:spPr>
          <a:xfrm>
            <a:off x="1074800" y="4378425"/>
            <a:ext cx="184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700">
                <a:latin typeface="Times New Roman"/>
                <a:ea typeface="Times New Roman"/>
                <a:cs typeface="Times New Roman"/>
                <a:sym typeface="Times New Roman"/>
              </a:rPr>
              <a:t>Figure 2: Elderly person walking</a:t>
            </a:r>
            <a:endParaRPr sz="700">
              <a:latin typeface="Times New Roman"/>
              <a:ea typeface="Times New Roman"/>
              <a:cs typeface="Times New Roman"/>
              <a:sym typeface="Times New Roman"/>
            </a:endParaRPr>
          </a:p>
          <a:p>
            <a:pPr indent="0" lvl="0" marL="0" rtl="0" algn="l">
              <a:spcBef>
                <a:spcPts val="0"/>
              </a:spcBef>
              <a:spcAft>
                <a:spcPts val="0"/>
              </a:spcAft>
              <a:buNone/>
            </a:pPr>
            <a:r>
              <a:rPr lang="en-GB" sz="700">
                <a:latin typeface="Times New Roman"/>
                <a:ea typeface="Times New Roman"/>
                <a:cs typeface="Times New Roman"/>
                <a:sym typeface="Times New Roman"/>
              </a:rPr>
              <a:t>Source: Adapted from [3]</a:t>
            </a:r>
            <a:endParaRPr sz="7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What is Stroll Safe?</a:t>
            </a:r>
            <a:endParaRPr/>
          </a:p>
        </p:txBody>
      </p:sp>
      <p:sp>
        <p:nvSpPr>
          <p:cNvPr id="145" name="Google Shape;145;p15"/>
          <p:cNvSpPr txBox="1"/>
          <p:nvPr>
            <p:ph idx="1" type="body"/>
          </p:nvPr>
        </p:nvSpPr>
        <p:spPr>
          <a:xfrm>
            <a:off x="819150" y="1990725"/>
            <a:ext cx="5666100" cy="2448000"/>
          </a:xfrm>
          <a:prstGeom prst="rect">
            <a:avLst/>
          </a:prstGeom>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Clr>
                <a:schemeClr val="accent5"/>
              </a:buClr>
              <a:buSzPts val="1500"/>
              <a:buChar char="●"/>
            </a:pPr>
            <a:r>
              <a:rPr lang="en-GB" sz="1500">
                <a:solidFill>
                  <a:schemeClr val="accent5"/>
                </a:solidFill>
              </a:rPr>
              <a:t>PWD m</a:t>
            </a:r>
            <a:r>
              <a:rPr lang="en-GB" sz="1500">
                <a:solidFill>
                  <a:schemeClr val="accent5"/>
                </a:solidFill>
              </a:rPr>
              <a:t>onitoring</a:t>
            </a:r>
            <a:r>
              <a:rPr lang="en-GB" sz="1500">
                <a:solidFill>
                  <a:schemeClr val="accent5"/>
                </a:solidFill>
              </a:rPr>
              <a:t> application</a:t>
            </a:r>
            <a:endParaRPr sz="1500">
              <a:solidFill>
                <a:schemeClr val="accent5"/>
              </a:solidFill>
            </a:endParaRPr>
          </a:p>
          <a:p>
            <a:pPr indent="-323850" lvl="0" marL="457200" rtl="0" algn="l">
              <a:lnSpc>
                <a:spcPct val="115000"/>
              </a:lnSpc>
              <a:spcBef>
                <a:spcPts val="1000"/>
              </a:spcBef>
              <a:spcAft>
                <a:spcPts val="0"/>
              </a:spcAft>
              <a:buClr>
                <a:schemeClr val="accent5"/>
              </a:buClr>
              <a:buSzPts val="1500"/>
              <a:buChar char="●"/>
            </a:pPr>
            <a:r>
              <a:rPr lang="en-GB" sz="1500">
                <a:solidFill>
                  <a:schemeClr val="accent5"/>
                </a:solidFill>
              </a:rPr>
              <a:t>Promote autonomy for PWD</a:t>
            </a:r>
            <a:endParaRPr sz="1500">
              <a:solidFill>
                <a:schemeClr val="accent5"/>
              </a:solidFill>
            </a:endParaRPr>
          </a:p>
          <a:p>
            <a:pPr indent="-323850" lvl="0" marL="457200" rtl="0" algn="l">
              <a:lnSpc>
                <a:spcPct val="115000"/>
              </a:lnSpc>
              <a:spcBef>
                <a:spcPts val="1000"/>
              </a:spcBef>
              <a:spcAft>
                <a:spcPts val="1000"/>
              </a:spcAft>
              <a:buClr>
                <a:schemeClr val="accent5"/>
              </a:buClr>
              <a:buSzPts val="1500"/>
              <a:buChar char="●"/>
            </a:pPr>
            <a:r>
              <a:rPr lang="en-GB" sz="1500">
                <a:solidFill>
                  <a:schemeClr val="accent5"/>
                </a:solidFill>
              </a:rPr>
              <a:t>Up to date medical &amp; personal information</a:t>
            </a:r>
            <a:endParaRPr sz="1500">
              <a:solidFill>
                <a:schemeClr val="accent5"/>
              </a:solidFill>
            </a:endParaRPr>
          </a:p>
        </p:txBody>
      </p:sp>
      <p:pic>
        <p:nvPicPr>
          <p:cNvPr id="146" name="Google Shape;146;p15"/>
          <p:cNvPicPr preferRelativeResize="0"/>
          <p:nvPr/>
        </p:nvPicPr>
        <p:blipFill rotWithShape="1">
          <a:blip r:embed="rId3">
            <a:alphaModFix/>
          </a:blip>
          <a:srcRect b="0" l="4598" r="0" t="0"/>
          <a:stretch/>
        </p:blipFill>
        <p:spPr>
          <a:xfrm>
            <a:off x="5128625" y="1408925"/>
            <a:ext cx="2916235" cy="244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Target User group</a:t>
            </a:r>
            <a:endParaRPr/>
          </a:p>
        </p:txBody>
      </p:sp>
      <p:sp>
        <p:nvSpPr>
          <p:cNvPr id="152" name="Google Shape;152;p16"/>
          <p:cNvSpPr txBox="1"/>
          <p:nvPr>
            <p:ph idx="1" type="body"/>
          </p:nvPr>
        </p:nvSpPr>
        <p:spPr>
          <a:xfrm>
            <a:off x="4878675" y="3786700"/>
            <a:ext cx="2845800" cy="6858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en-GB" sz="1800">
                <a:solidFill>
                  <a:schemeClr val="accent5"/>
                </a:solidFill>
              </a:rPr>
              <a:t>Caregiver and Family </a:t>
            </a:r>
            <a:endParaRPr sz="1800">
              <a:solidFill>
                <a:schemeClr val="accent5"/>
              </a:solidFill>
            </a:endParaRPr>
          </a:p>
        </p:txBody>
      </p:sp>
      <p:pic>
        <p:nvPicPr>
          <p:cNvPr id="153" name="Google Shape;153;p16"/>
          <p:cNvPicPr preferRelativeResize="0"/>
          <p:nvPr/>
        </p:nvPicPr>
        <p:blipFill>
          <a:blip r:embed="rId3">
            <a:alphaModFix/>
          </a:blip>
          <a:stretch>
            <a:fillRect/>
          </a:stretch>
        </p:blipFill>
        <p:spPr>
          <a:xfrm>
            <a:off x="4572000" y="1866650"/>
            <a:ext cx="3459149" cy="1789026"/>
          </a:xfrm>
          <a:prstGeom prst="rect">
            <a:avLst/>
          </a:prstGeom>
          <a:noFill/>
          <a:ln>
            <a:noFill/>
          </a:ln>
          <a:effectLst>
            <a:outerShdw blurRad="57150" rotWithShape="0" algn="bl" dir="5400000" dist="19050">
              <a:srgbClr val="000000">
                <a:alpha val="50000"/>
              </a:srgbClr>
            </a:outerShdw>
          </a:effectLst>
        </p:spPr>
      </p:pic>
      <p:sp>
        <p:nvSpPr>
          <p:cNvPr id="154" name="Google Shape;154;p16"/>
          <p:cNvSpPr txBox="1"/>
          <p:nvPr/>
        </p:nvSpPr>
        <p:spPr>
          <a:xfrm>
            <a:off x="1061588" y="3815000"/>
            <a:ext cx="3046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a:solidFill>
                  <a:schemeClr val="accent5"/>
                </a:solidFill>
                <a:latin typeface="Calibri"/>
                <a:ea typeface="Calibri"/>
                <a:cs typeface="Calibri"/>
                <a:sym typeface="Calibri"/>
              </a:rPr>
              <a:t>Patients with Dementia</a:t>
            </a:r>
            <a:endParaRPr sz="1800">
              <a:solidFill>
                <a:schemeClr val="accent5"/>
              </a:solidFill>
              <a:latin typeface="Calibri"/>
              <a:ea typeface="Calibri"/>
              <a:cs typeface="Calibri"/>
              <a:sym typeface="Calibri"/>
            </a:endParaRPr>
          </a:p>
        </p:txBody>
      </p:sp>
      <p:pic>
        <p:nvPicPr>
          <p:cNvPr id="155" name="Google Shape;155;p16"/>
          <p:cNvPicPr preferRelativeResize="0"/>
          <p:nvPr/>
        </p:nvPicPr>
        <p:blipFill>
          <a:blip r:embed="rId4">
            <a:alphaModFix/>
          </a:blip>
          <a:stretch>
            <a:fillRect/>
          </a:stretch>
        </p:blipFill>
        <p:spPr>
          <a:xfrm>
            <a:off x="937050" y="1866650"/>
            <a:ext cx="3295275" cy="17661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System Overview</a:t>
            </a:r>
            <a:endParaRPr/>
          </a:p>
        </p:txBody>
      </p:sp>
      <p:sp>
        <p:nvSpPr>
          <p:cNvPr id="161" name="Google Shape;161;p17"/>
          <p:cNvSpPr txBox="1"/>
          <p:nvPr>
            <p:ph idx="1" type="body"/>
          </p:nvPr>
        </p:nvSpPr>
        <p:spPr>
          <a:xfrm>
            <a:off x="819150" y="1844297"/>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chemeClr val="accent5"/>
              </a:buClr>
              <a:buSzPts val="1300"/>
              <a:buChar char="●"/>
            </a:pPr>
            <a:r>
              <a:rPr lang="en-GB">
                <a:solidFill>
                  <a:schemeClr val="accent5"/>
                </a:solidFill>
              </a:rPr>
              <a:t>Caregiver + PWD mode</a:t>
            </a:r>
            <a:endParaRPr>
              <a:solidFill>
                <a:schemeClr val="accent5"/>
              </a:solidFill>
            </a:endParaRPr>
          </a:p>
          <a:p>
            <a:pPr indent="-311150" lvl="0" marL="457200" rtl="0" algn="l">
              <a:spcBef>
                <a:spcPts val="0"/>
              </a:spcBef>
              <a:spcAft>
                <a:spcPts val="0"/>
              </a:spcAft>
              <a:buClr>
                <a:schemeClr val="accent5"/>
              </a:buClr>
              <a:buSzPts val="1300"/>
              <a:buChar char="●"/>
            </a:pPr>
            <a:r>
              <a:rPr lang="en-GB">
                <a:solidFill>
                  <a:schemeClr val="accent5"/>
                </a:solidFill>
              </a:rPr>
              <a:t>Location tracking.</a:t>
            </a:r>
            <a:endParaRPr>
              <a:solidFill>
                <a:schemeClr val="accent5"/>
              </a:solidFill>
            </a:endParaRPr>
          </a:p>
          <a:p>
            <a:pPr indent="-311150" lvl="0" marL="457200" rtl="0" algn="l">
              <a:spcBef>
                <a:spcPts val="0"/>
              </a:spcBef>
              <a:spcAft>
                <a:spcPts val="0"/>
              </a:spcAft>
              <a:buClr>
                <a:schemeClr val="accent5"/>
              </a:buClr>
              <a:buSzPts val="1300"/>
              <a:buChar char="●"/>
            </a:pPr>
            <a:r>
              <a:rPr lang="en-GB">
                <a:solidFill>
                  <a:schemeClr val="accent5"/>
                </a:solidFill>
              </a:rPr>
              <a:t>Emergency notification.</a:t>
            </a:r>
            <a:endParaRPr>
              <a:solidFill>
                <a:schemeClr val="accent5"/>
              </a:solidFill>
            </a:endParaRPr>
          </a:p>
          <a:p>
            <a:pPr indent="-311150" lvl="0" marL="457200" rtl="0" algn="l">
              <a:spcBef>
                <a:spcPts val="0"/>
              </a:spcBef>
              <a:spcAft>
                <a:spcPts val="0"/>
              </a:spcAft>
              <a:buClr>
                <a:schemeClr val="accent5"/>
              </a:buClr>
              <a:buSzPts val="1300"/>
              <a:buChar char="●"/>
            </a:pPr>
            <a:r>
              <a:rPr lang="en-GB">
                <a:solidFill>
                  <a:schemeClr val="accent5"/>
                </a:solidFill>
              </a:rPr>
              <a:t>Low battery </a:t>
            </a:r>
            <a:r>
              <a:rPr lang="en-GB">
                <a:solidFill>
                  <a:schemeClr val="accent5"/>
                </a:solidFill>
              </a:rPr>
              <a:t>notification.</a:t>
            </a:r>
            <a:endParaRPr>
              <a:solidFill>
                <a:schemeClr val="accent5"/>
              </a:solidFill>
            </a:endParaRPr>
          </a:p>
          <a:p>
            <a:pPr indent="-311150" lvl="0" marL="457200" rtl="0" algn="l">
              <a:spcBef>
                <a:spcPts val="0"/>
              </a:spcBef>
              <a:spcAft>
                <a:spcPts val="0"/>
              </a:spcAft>
              <a:buClr>
                <a:schemeClr val="accent5"/>
              </a:buClr>
              <a:buSzPts val="1300"/>
              <a:buChar char="●"/>
            </a:pPr>
            <a:r>
              <a:rPr lang="en-GB">
                <a:solidFill>
                  <a:schemeClr val="accent5"/>
                </a:solidFill>
              </a:rPr>
              <a:t>Customizable safe zones.</a:t>
            </a:r>
            <a:endParaRPr>
              <a:solidFill>
                <a:schemeClr val="accent5"/>
              </a:solidFill>
            </a:endParaRPr>
          </a:p>
          <a:p>
            <a:pPr indent="-311150" lvl="0" marL="457200" rtl="0" algn="l">
              <a:spcBef>
                <a:spcPts val="0"/>
              </a:spcBef>
              <a:spcAft>
                <a:spcPts val="0"/>
              </a:spcAft>
              <a:buClr>
                <a:schemeClr val="accent5"/>
              </a:buClr>
              <a:buSzPts val="1300"/>
              <a:buChar char="●"/>
            </a:pPr>
            <a:r>
              <a:rPr lang="en-GB">
                <a:solidFill>
                  <a:schemeClr val="accent5"/>
                </a:solidFill>
              </a:rPr>
              <a:t>SOS feature.</a:t>
            </a:r>
            <a:endParaRPr>
              <a:solidFill>
                <a:schemeClr val="accent5"/>
              </a:solidFill>
            </a:endParaRPr>
          </a:p>
          <a:p>
            <a:pPr indent="-311150" lvl="0" marL="457200" rtl="0" algn="l">
              <a:spcBef>
                <a:spcPts val="0"/>
              </a:spcBef>
              <a:spcAft>
                <a:spcPts val="0"/>
              </a:spcAft>
              <a:buClr>
                <a:schemeClr val="accent5"/>
              </a:buClr>
              <a:buSzPts val="1300"/>
              <a:buChar char="●"/>
            </a:pPr>
            <a:r>
              <a:rPr lang="en-GB">
                <a:solidFill>
                  <a:schemeClr val="accent5"/>
                </a:solidFill>
              </a:rPr>
              <a:t>Inactivity notifications.</a:t>
            </a:r>
            <a:endParaRPr>
              <a:solidFill>
                <a:schemeClr val="accent5"/>
              </a:solidFill>
            </a:endParaRPr>
          </a:p>
          <a:p>
            <a:pPr indent="-311150" lvl="0" marL="457200" rtl="0" algn="l">
              <a:spcBef>
                <a:spcPts val="0"/>
              </a:spcBef>
              <a:spcAft>
                <a:spcPts val="0"/>
              </a:spcAft>
              <a:buClr>
                <a:schemeClr val="accent5"/>
              </a:buClr>
              <a:buSzPts val="1300"/>
              <a:buChar char="●"/>
            </a:pPr>
            <a:r>
              <a:rPr lang="en-GB">
                <a:solidFill>
                  <a:schemeClr val="accent5"/>
                </a:solidFill>
              </a:rPr>
              <a:t>Patient’s health information.</a:t>
            </a:r>
            <a:endParaRPr>
              <a:solidFill>
                <a:schemeClr val="accent5"/>
              </a:solidFill>
            </a:endParaRPr>
          </a:p>
        </p:txBody>
      </p:sp>
      <p:pic>
        <p:nvPicPr>
          <p:cNvPr id="162" name="Google Shape;162;p17"/>
          <p:cNvPicPr preferRelativeResize="0"/>
          <p:nvPr/>
        </p:nvPicPr>
        <p:blipFill>
          <a:blip r:embed="rId3">
            <a:alphaModFix/>
          </a:blip>
          <a:stretch>
            <a:fillRect/>
          </a:stretch>
        </p:blipFill>
        <p:spPr>
          <a:xfrm>
            <a:off x="5329275" y="1704775"/>
            <a:ext cx="2326650" cy="2326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How will these help?</a:t>
            </a:r>
            <a:endParaRPr/>
          </a:p>
        </p:txBody>
      </p:sp>
      <p:sp>
        <p:nvSpPr>
          <p:cNvPr id="168" name="Google Shape;168;p1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5"/>
              </a:buClr>
              <a:buSzPts val="1800"/>
              <a:buChar char="●"/>
            </a:pPr>
            <a:r>
              <a:rPr lang="en-GB" sz="1800">
                <a:solidFill>
                  <a:schemeClr val="accent5"/>
                </a:solidFill>
              </a:rPr>
              <a:t>Location tracking can allow caregivers to not lose their PWD</a:t>
            </a:r>
            <a:endParaRPr sz="1800">
              <a:solidFill>
                <a:schemeClr val="accent5"/>
              </a:solidFill>
            </a:endParaRPr>
          </a:p>
          <a:p>
            <a:pPr indent="-342900" lvl="0" marL="457200" rtl="0" algn="l">
              <a:spcBef>
                <a:spcPts val="0"/>
              </a:spcBef>
              <a:spcAft>
                <a:spcPts val="0"/>
              </a:spcAft>
              <a:buClr>
                <a:schemeClr val="accent5"/>
              </a:buClr>
              <a:buSzPts val="1800"/>
              <a:buChar char="●"/>
            </a:pPr>
            <a:r>
              <a:rPr lang="en-GB" sz="1800">
                <a:solidFill>
                  <a:schemeClr val="accent5"/>
                </a:solidFill>
              </a:rPr>
              <a:t>Notifications allows caregivers to respond as fast as possible</a:t>
            </a:r>
            <a:endParaRPr sz="1800">
              <a:solidFill>
                <a:schemeClr val="accent5"/>
              </a:solidFill>
            </a:endParaRPr>
          </a:p>
          <a:p>
            <a:pPr indent="-342900" lvl="0" marL="457200" rtl="0" algn="l">
              <a:spcBef>
                <a:spcPts val="0"/>
              </a:spcBef>
              <a:spcAft>
                <a:spcPts val="0"/>
              </a:spcAft>
              <a:buClr>
                <a:schemeClr val="accent5"/>
              </a:buClr>
              <a:buSzPts val="1800"/>
              <a:buChar char="●"/>
            </a:pPr>
            <a:r>
              <a:rPr lang="en-GB" sz="1800">
                <a:solidFill>
                  <a:schemeClr val="accent5"/>
                </a:solidFill>
              </a:rPr>
              <a:t>Safe zones allow PWD to move around freely in a space without notifying caregiver</a:t>
            </a:r>
            <a:endParaRPr sz="1800">
              <a:solidFill>
                <a:schemeClr val="accent5"/>
              </a:solidFill>
            </a:endParaRPr>
          </a:p>
          <a:p>
            <a:pPr indent="-342900" lvl="0" marL="457200" rtl="0" algn="l">
              <a:spcBef>
                <a:spcPts val="0"/>
              </a:spcBef>
              <a:spcAft>
                <a:spcPts val="0"/>
              </a:spcAft>
              <a:buClr>
                <a:schemeClr val="accent5"/>
              </a:buClr>
              <a:buSzPts val="1800"/>
              <a:buChar char="●"/>
            </a:pPr>
            <a:r>
              <a:rPr lang="en-GB" sz="1800">
                <a:solidFill>
                  <a:schemeClr val="accent5"/>
                </a:solidFill>
              </a:rPr>
              <a:t>SOS feature allows for PWD to get emergency help</a:t>
            </a:r>
            <a:endParaRPr sz="1800">
              <a:solidFill>
                <a:schemeClr val="accent5"/>
              </a:solidFill>
            </a:endParaRPr>
          </a:p>
          <a:p>
            <a:pPr indent="-342900" lvl="0" marL="457200" rtl="0" algn="l">
              <a:spcBef>
                <a:spcPts val="0"/>
              </a:spcBef>
              <a:spcAft>
                <a:spcPts val="0"/>
              </a:spcAft>
              <a:buClr>
                <a:schemeClr val="accent5"/>
              </a:buClr>
              <a:buSzPts val="1800"/>
              <a:buChar char="●"/>
            </a:pPr>
            <a:r>
              <a:rPr lang="en-GB" sz="1800">
                <a:solidFill>
                  <a:schemeClr val="accent5"/>
                </a:solidFill>
              </a:rPr>
              <a:t>Patient health information allows caregivers easier access to medical info</a:t>
            </a:r>
            <a:endParaRPr sz="1800">
              <a:solidFill>
                <a:schemeClr val="accent5"/>
              </a:solidFill>
            </a:endParaRPr>
          </a:p>
        </p:txBody>
      </p:sp>
      <p:pic>
        <p:nvPicPr>
          <p:cNvPr id="169" name="Google Shape;169;p18"/>
          <p:cNvPicPr preferRelativeResize="0"/>
          <p:nvPr/>
        </p:nvPicPr>
        <p:blipFill>
          <a:blip r:embed="rId3">
            <a:alphaModFix/>
          </a:blip>
          <a:stretch>
            <a:fillRect/>
          </a:stretch>
        </p:blipFill>
        <p:spPr>
          <a:xfrm>
            <a:off x="7045100" y="457250"/>
            <a:ext cx="1331650" cy="1229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Project Workflow</a:t>
            </a:r>
            <a:endParaRPr/>
          </a:p>
        </p:txBody>
      </p:sp>
      <p:pic>
        <p:nvPicPr>
          <p:cNvPr id="175" name="Google Shape;175;p19"/>
          <p:cNvPicPr preferRelativeResize="0"/>
          <p:nvPr/>
        </p:nvPicPr>
        <p:blipFill>
          <a:blip r:embed="rId3">
            <a:alphaModFix/>
          </a:blip>
          <a:stretch>
            <a:fillRect/>
          </a:stretch>
        </p:blipFill>
        <p:spPr>
          <a:xfrm>
            <a:off x="716313" y="1399812"/>
            <a:ext cx="2525975" cy="1895901"/>
          </a:xfrm>
          <a:prstGeom prst="rect">
            <a:avLst/>
          </a:prstGeom>
          <a:noFill/>
          <a:ln>
            <a:noFill/>
          </a:ln>
        </p:spPr>
      </p:pic>
      <p:pic>
        <p:nvPicPr>
          <p:cNvPr id="176" name="Google Shape;176;p19"/>
          <p:cNvPicPr preferRelativeResize="0"/>
          <p:nvPr/>
        </p:nvPicPr>
        <p:blipFill>
          <a:blip r:embed="rId4">
            <a:alphaModFix/>
          </a:blip>
          <a:stretch>
            <a:fillRect/>
          </a:stretch>
        </p:blipFill>
        <p:spPr>
          <a:xfrm>
            <a:off x="3160100" y="1692200"/>
            <a:ext cx="2114550" cy="1190625"/>
          </a:xfrm>
          <a:prstGeom prst="rect">
            <a:avLst/>
          </a:prstGeom>
          <a:noFill/>
          <a:ln>
            <a:noFill/>
          </a:ln>
        </p:spPr>
      </p:pic>
      <p:pic>
        <p:nvPicPr>
          <p:cNvPr id="177" name="Google Shape;177;p19"/>
          <p:cNvPicPr preferRelativeResize="0"/>
          <p:nvPr/>
        </p:nvPicPr>
        <p:blipFill>
          <a:blip r:embed="rId5">
            <a:alphaModFix/>
          </a:blip>
          <a:stretch>
            <a:fillRect/>
          </a:stretch>
        </p:blipFill>
        <p:spPr>
          <a:xfrm>
            <a:off x="5778750" y="1495275"/>
            <a:ext cx="2686050" cy="1704975"/>
          </a:xfrm>
          <a:prstGeom prst="rect">
            <a:avLst/>
          </a:prstGeom>
          <a:noFill/>
          <a:ln>
            <a:noFill/>
          </a:ln>
        </p:spPr>
      </p:pic>
      <p:sp>
        <p:nvSpPr>
          <p:cNvPr id="178" name="Google Shape;178;p19"/>
          <p:cNvSpPr txBox="1"/>
          <p:nvPr/>
        </p:nvSpPr>
        <p:spPr>
          <a:xfrm>
            <a:off x="722550" y="3045775"/>
            <a:ext cx="24825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accent5"/>
              </a:buClr>
              <a:buSzPts val="1400"/>
              <a:buFont typeface="Calibri"/>
              <a:buChar char="●"/>
            </a:pPr>
            <a:r>
              <a:rPr lang="en-GB">
                <a:solidFill>
                  <a:schemeClr val="accent5"/>
                </a:solidFill>
                <a:latin typeface="Calibri"/>
                <a:ea typeface="Calibri"/>
                <a:cs typeface="Calibri"/>
                <a:sym typeface="Calibri"/>
              </a:rPr>
              <a:t>Project </a:t>
            </a:r>
            <a:r>
              <a:rPr lang="en-GB">
                <a:solidFill>
                  <a:schemeClr val="accent5"/>
                </a:solidFill>
                <a:latin typeface="Calibri"/>
                <a:ea typeface="Calibri"/>
                <a:cs typeface="Calibri"/>
                <a:sym typeface="Calibri"/>
              </a:rPr>
              <a:t>Management</a:t>
            </a:r>
            <a:endParaRPr>
              <a:solidFill>
                <a:schemeClr val="accent5"/>
              </a:solidFill>
              <a:latin typeface="Calibri"/>
              <a:ea typeface="Calibri"/>
              <a:cs typeface="Calibri"/>
              <a:sym typeface="Calibri"/>
            </a:endParaRPr>
          </a:p>
        </p:txBody>
      </p:sp>
      <p:sp>
        <p:nvSpPr>
          <p:cNvPr id="179" name="Google Shape;179;p19"/>
          <p:cNvSpPr txBox="1"/>
          <p:nvPr/>
        </p:nvSpPr>
        <p:spPr>
          <a:xfrm>
            <a:off x="3132875" y="2938075"/>
            <a:ext cx="21690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accent5"/>
              </a:buClr>
              <a:buSzPts val="1400"/>
              <a:buFont typeface="Calibri"/>
              <a:buChar char="●"/>
            </a:pPr>
            <a:r>
              <a:rPr lang="en-GB">
                <a:solidFill>
                  <a:schemeClr val="accent5"/>
                </a:solidFill>
                <a:latin typeface="Calibri"/>
                <a:ea typeface="Calibri"/>
                <a:cs typeface="Calibri"/>
                <a:sym typeface="Calibri"/>
              </a:rPr>
              <a:t>Version control</a:t>
            </a:r>
            <a:endParaRPr>
              <a:solidFill>
                <a:schemeClr val="accent5"/>
              </a:solidFill>
              <a:latin typeface="Calibri"/>
              <a:ea typeface="Calibri"/>
              <a:cs typeface="Calibri"/>
              <a:sym typeface="Calibri"/>
            </a:endParaRPr>
          </a:p>
          <a:p>
            <a:pPr indent="-317500" lvl="0" marL="457200" rtl="0" algn="l">
              <a:spcBef>
                <a:spcPts val="0"/>
              </a:spcBef>
              <a:spcAft>
                <a:spcPts val="0"/>
              </a:spcAft>
              <a:buClr>
                <a:schemeClr val="accent5"/>
              </a:buClr>
              <a:buSzPts val="1400"/>
              <a:buFont typeface="Calibri"/>
              <a:buChar char="●"/>
            </a:pPr>
            <a:r>
              <a:rPr lang="en-GB">
                <a:solidFill>
                  <a:schemeClr val="accent5"/>
                </a:solidFill>
                <a:latin typeface="Calibri"/>
                <a:ea typeface="Calibri"/>
                <a:cs typeface="Calibri"/>
                <a:sym typeface="Calibri"/>
              </a:rPr>
              <a:t>CI / CD</a:t>
            </a:r>
            <a:endParaRPr>
              <a:solidFill>
                <a:schemeClr val="accent5"/>
              </a:solidFill>
              <a:latin typeface="Calibri"/>
              <a:ea typeface="Calibri"/>
              <a:cs typeface="Calibri"/>
              <a:sym typeface="Calibri"/>
            </a:endParaRPr>
          </a:p>
        </p:txBody>
      </p:sp>
      <p:sp>
        <p:nvSpPr>
          <p:cNvPr id="180" name="Google Shape;180;p19"/>
          <p:cNvSpPr txBox="1"/>
          <p:nvPr/>
        </p:nvSpPr>
        <p:spPr>
          <a:xfrm>
            <a:off x="5880525" y="3045775"/>
            <a:ext cx="24825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accent5"/>
              </a:buClr>
              <a:buSzPts val="1400"/>
              <a:buFont typeface="Calibri"/>
              <a:buChar char="●"/>
            </a:pPr>
            <a:r>
              <a:rPr lang="en-GB">
                <a:solidFill>
                  <a:schemeClr val="accent5"/>
                </a:solidFill>
                <a:latin typeface="Calibri"/>
                <a:ea typeface="Calibri"/>
                <a:cs typeface="Calibri"/>
                <a:sym typeface="Calibri"/>
              </a:rPr>
              <a:t>Java</a:t>
            </a:r>
            <a:endParaRPr>
              <a:solidFill>
                <a:schemeClr val="accent5"/>
              </a:solidFill>
              <a:latin typeface="Calibri"/>
              <a:ea typeface="Calibri"/>
              <a:cs typeface="Calibri"/>
              <a:sym typeface="Calibri"/>
            </a:endParaRPr>
          </a:p>
          <a:p>
            <a:pPr indent="-317500" lvl="0" marL="457200" rtl="0" algn="l">
              <a:spcBef>
                <a:spcPts val="0"/>
              </a:spcBef>
              <a:spcAft>
                <a:spcPts val="0"/>
              </a:spcAft>
              <a:buClr>
                <a:schemeClr val="accent5"/>
              </a:buClr>
              <a:buSzPts val="1400"/>
              <a:buFont typeface="Calibri"/>
              <a:buChar char="●"/>
            </a:pPr>
            <a:r>
              <a:rPr lang="en-GB">
                <a:solidFill>
                  <a:schemeClr val="accent5"/>
                </a:solidFill>
                <a:latin typeface="Calibri"/>
                <a:ea typeface="Calibri"/>
                <a:cs typeface="Calibri"/>
                <a:sym typeface="Calibri"/>
              </a:rPr>
              <a:t>MySQL</a:t>
            </a:r>
            <a:endParaRPr>
              <a:solidFill>
                <a:schemeClr val="accent5"/>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Why a mobile application?</a:t>
            </a:r>
            <a:endParaRPr/>
          </a:p>
        </p:txBody>
      </p:sp>
      <p:sp>
        <p:nvSpPr>
          <p:cNvPr id="186" name="Google Shape;186;p2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7500" lvl="0" marL="457200" rtl="0" algn="l">
              <a:lnSpc>
                <a:spcPct val="200000"/>
              </a:lnSpc>
              <a:spcBef>
                <a:spcPts val="0"/>
              </a:spcBef>
              <a:spcAft>
                <a:spcPts val="0"/>
              </a:spcAft>
              <a:buClr>
                <a:schemeClr val="accent5"/>
              </a:buClr>
              <a:buSzPts val="1400"/>
              <a:buChar char="●"/>
            </a:pPr>
            <a:r>
              <a:rPr lang="en-GB" sz="1400">
                <a:solidFill>
                  <a:schemeClr val="accent5"/>
                </a:solidFill>
              </a:rPr>
              <a:t>[5] </a:t>
            </a:r>
            <a:r>
              <a:rPr lang="en-GB" sz="1400">
                <a:solidFill>
                  <a:schemeClr val="accent5"/>
                </a:solidFill>
              </a:rPr>
              <a:t>Almost everyone has access to a smartphone (83.72% of the world population)</a:t>
            </a:r>
            <a:endParaRPr sz="1400">
              <a:solidFill>
                <a:schemeClr val="accent5"/>
              </a:solidFill>
            </a:endParaRPr>
          </a:p>
          <a:p>
            <a:pPr indent="-317500" lvl="0" marL="457200" rtl="0" algn="l">
              <a:lnSpc>
                <a:spcPct val="200000"/>
              </a:lnSpc>
              <a:spcBef>
                <a:spcPts val="0"/>
              </a:spcBef>
              <a:spcAft>
                <a:spcPts val="0"/>
              </a:spcAft>
              <a:buClr>
                <a:schemeClr val="accent5"/>
              </a:buClr>
              <a:buSzPts val="1400"/>
              <a:buChar char="●"/>
            </a:pPr>
            <a:r>
              <a:rPr lang="en-GB" sz="1400">
                <a:solidFill>
                  <a:schemeClr val="accent5"/>
                </a:solidFill>
              </a:rPr>
              <a:t>We keep our mobile devices with us all day everyday</a:t>
            </a:r>
            <a:endParaRPr sz="1400">
              <a:solidFill>
                <a:schemeClr val="accent5"/>
              </a:solidFill>
            </a:endParaRPr>
          </a:p>
          <a:p>
            <a:pPr indent="-317500" lvl="0" marL="457200" rtl="0" algn="l">
              <a:lnSpc>
                <a:spcPct val="200000"/>
              </a:lnSpc>
              <a:spcBef>
                <a:spcPts val="0"/>
              </a:spcBef>
              <a:spcAft>
                <a:spcPts val="0"/>
              </a:spcAft>
              <a:buClr>
                <a:schemeClr val="accent5"/>
              </a:buClr>
              <a:buSzPts val="1400"/>
              <a:buChar char="●"/>
            </a:pPr>
            <a:r>
              <a:rPr lang="en-GB" sz="1400">
                <a:solidFill>
                  <a:schemeClr val="accent5"/>
                </a:solidFill>
              </a:rPr>
              <a:t>Mobile devices have extremely useful core functionalities</a:t>
            </a:r>
            <a:endParaRPr sz="1400">
              <a:solidFill>
                <a:schemeClr val="accent5"/>
              </a:solidFill>
            </a:endParaRPr>
          </a:p>
          <a:p>
            <a:pPr indent="-317500" lvl="0" marL="457200" rtl="0" algn="l">
              <a:lnSpc>
                <a:spcPct val="200000"/>
              </a:lnSpc>
              <a:spcBef>
                <a:spcPts val="0"/>
              </a:spcBef>
              <a:spcAft>
                <a:spcPts val="0"/>
              </a:spcAft>
              <a:buClr>
                <a:schemeClr val="accent5"/>
              </a:buClr>
              <a:buSzPts val="1400"/>
              <a:buChar char="●"/>
            </a:pPr>
            <a:r>
              <a:rPr lang="en-GB" sz="1400">
                <a:solidFill>
                  <a:schemeClr val="accent5"/>
                </a:solidFill>
              </a:rPr>
              <a:t>Ease of use and accessibility</a:t>
            </a:r>
            <a:endParaRPr sz="1400">
              <a:solidFill>
                <a:schemeClr val="accent5"/>
              </a:solidFill>
            </a:endParaRPr>
          </a:p>
        </p:txBody>
      </p:sp>
      <p:pic>
        <p:nvPicPr>
          <p:cNvPr id="187" name="Google Shape;187;p20"/>
          <p:cNvPicPr preferRelativeResize="0"/>
          <p:nvPr/>
        </p:nvPicPr>
        <p:blipFill rotWithShape="1">
          <a:blip r:embed="rId3">
            <a:alphaModFix/>
          </a:blip>
          <a:srcRect b="0" l="0" r="0" t="8130"/>
          <a:stretch/>
        </p:blipFill>
        <p:spPr>
          <a:xfrm>
            <a:off x="7130625" y="237700"/>
            <a:ext cx="1700750" cy="1562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Challenges</a:t>
            </a:r>
            <a:endParaRPr/>
          </a:p>
        </p:txBody>
      </p:sp>
      <p:sp>
        <p:nvSpPr>
          <p:cNvPr id="193" name="Google Shape;193;p2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7500" lvl="0" marL="457200" rtl="0" algn="l">
              <a:lnSpc>
                <a:spcPct val="200000"/>
              </a:lnSpc>
              <a:spcBef>
                <a:spcPts val="0"/>
              </a:spcBef>
              <a:spcAft>
                <a:spcPts val="0"/>
              </a:spcAft>
              <a:buClr>
                <a:schemeClr val="accent5"/>
              </a:buClr>
              <a:buSzPts val="1400"/>
              <a:buChar char="●"/>
            </a:pPr>
            <a:r>
              <a:rPr lang="en-GB" sz="1400">
                <a:solidFill>
                  <a:schemeClr val="accent5"/>
                </a:solidFill>
              </a:rPr>
              <a:t>Elderly people and technology don’t always go </a:t>
            </a:r>
            <a:r>
              <a:rPr lang="en-GB" sz="1400">
                <a:solidFill>
                  <a:schemeClr val="accent5"/>
                </a:solidFill>
              </a:rPr>
              <a:t>hand in hand</a:t>
            </a:r>
            <a:endParaRPr sz="1400">
              <a:solidFill>
                <a:schemeClr val="accent5"/>
              </a:solidFill>
            </a:endParaRPr>
          </a:p>
          <a:p>
            <a:pPr indent="-317500" lvl="0" marL="457200" rtl="0" algn="l">
              <a:lnSpc>
                <a:spcPct val="200000"/>
              </a:lnSpc>
              <a:spcBef>
                <a:spcPts val="0"/>
              </a:spcBef>
              <a:spcAft>
                <a:spcPts val="0"/>
              </a:spcAft>
              <a:buClr>
                <a:schemeClr val="accent5"/>
              </a:buClr>
              <a:buSzPts val="1400"/>
              <a:buChar char="●"/>
            </a:pPr>
            <a:r>
              <a:rPr lang="en-GB" sz="1400">
                <a:solidFill>
                  <a:schemeClr val="accent5"/>
                </a:solidFill>
              </a:rPr>
              <a:t>People with dementia may forget, or misplace their mobile device</a:t>
            </a:r>
            <a:endParaRPr sz="1400">
              <a:solidFill>
                <a:schemeClr val="accent5"/>
              </a:solidFill>
            </a:endParaRPr>
          </a:p>
        </p:txBody>
      </p:sp>
      <p:pic>
        <p:nvPicPr>
          <p:cNvPr id="194" name="Google Shape;194;p21"/>
          <p:cNvPicPr preferRelativeResize="0"/>
          <p:nvPr/>
        </p:nvPicPr>
        <p:blipFill>
          <a:blip r:embed="rId3">
            <a:alphaModFix/>
          </a:blip>
          <a:stretch>
            <a:fillRect/>
          </a:stretch>
        </p:blipFill>
        <p:spPr>
          <a:xfrm>
            <a:off x="6724800" y="2761700"/>
            <a:ext cx="1600050" cy="1600050"/>
          </a:xfrm>
          <a:prstGeom prst="rect">
            <a:avLst/>
          </a:prstGeom>
          <a:noFill/>
          <a:ln>
            <a:noFill/>
          </a:ln>
        </p:spPr>
      </p:pic>
      <p:pic>
        <p:nvPicPr>
          <p:cNvPr id="195" name="Google Shape;195;p21"/>
          <p:cNvPicPr preferRelativeResize="0"/>
          <p:nvPr/>
        </p:nvPicPr>
        <p:blipFill>
          <a:blip r:embed="rId4">
            <a:alphaModFix/>
          </a:blip>
          <a:stretch>
            <a:fillRect/>
          </a:stretch>
        </p:blipFill>
        <p:spPr>
          <a:xfrm>
            <a:off x="6724795" y="442475"/>
            <a:ext cx="2012376" cy="17608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References</a:t>
            </a:r>
            <a:endParaRPr/>
          </a:p>
        </p:txBody>
      </p:sp>
      <p:sp>
        <p:nvSpPr>
          <p:cNvPr id="201" name="Google Shape;201;p22"/>
          <p:cNvSpPr txBox="1"/>
          <p:nvPr>
            <p:ph idx="1" type="body"/>
          </p:nvPr>
        </p:nvSpPr>
        <p:spPr>
          <a:xfrm>
            <a:off x="819150" y="19145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800">
                <a:solidFill>
                  <a:schemeClr val="accent5"/>
                </a:solidFill>
              </a:rPr>
              <a:t>[1] </a:t>
            </a:r>
            <a:r>
              <a:rPr lang="en-GB" sz="800">
                <a:solidFill>
                  <a:schemeClr val="accent5"/>
                </a:solidFill>
              </a:rPr>
              <a:t>M. MacAndrew, L. Schnitker, N. Shepherd and E. Beattie, “People with dementia getting lost in Australia: Dementia related missing person reports in the media, ” </a:t>
            </a:r>
            <a:r>
              <a:rPr i="1" lang="en-GB" sz="800">
                <a:solidFill>
                  <a:schemeClr val="accent5"/>
                </a:solidFill>
              </a:rPr>
              <a:t>Australian Journal on Aging, </a:t>
            </a:r>
            <a:r>
              <a:rPr lang="en-GB" sz="800">
                <a:solidFill>
                  <a:schemeClr val="accent5"/>
                </a:solidFill>
              </a:rPr>
              <a:t>vol. 37 no. 3, September, 2018. [Online] Available:  </a:t>
            </a:r>
            <a:r>
              <a:rPr lang="en-GB" sz="800" u="sng">
                <a:solidFill>
                  <a:schemeClr val="accent5"/>
                </a:solidFill>
                <a:hlinkClick r:id="rId3">
                  <a:extLst>
                    <a:ext uri="{A12FA001-AC4F-418D-AE19-62706E023703}">
                      <ahyp:hlinkClr val="tx"/>
                    </a:ext>
                  </a:extLst>
                </a:hlinkClick>
              </a:rPr>
              <a:t>https://onlinelibrary.wiley.com/doi/pdfdirect/10.1111/ajag.12542</a:t>
            </a:r>
            <a:r>
              <a:rPr lang="en-GB" sz="800">
                <a:solidFill>
                  <a:schemeClr val="accent5"/>
                </a:solidFill>
              </a:rPr>
              <a:t>  [Accessed Jun.2, 2022]</a:t>
            </a:r>
            <a:r>
              <a:rPr lang="en-GB" sz="800">
                <a:solidFill>
                  <a:schemeClr val="accent5"/>
                </a:solidFill>
              </a:rPr>
              <a:t> </a:t>
            </a:r>
            <a:endParaRPr sz="800">
              <a:solidFill>
                <a:schemeClr val="accent5"/>
              </a:solidFill>
            </a:endParaRPr>
          </a:p>
          <a:p>
            <a:pPr indent="0" lvl="0" marL="0" rtl="0" algn="l">
              <a:spcBef>
                <a:spcPts val="1200"/>
              </a:spcBef>
              <a:spcAft>
                <a:spcPts val="0"/>
              </a:spcAft>
              <a:buNone/>
            </a:pPr>
            <a:r>
              <a:rPr lang="en-GB" sz="800">
                <a:solidFill>
                  <a:schemeClr val="accent5"/>
                </a:solidFill>
              </a:rPr>
              <a:t>[2] T, Jin. “10 sports injuries with lifelong consequences”, </a:t>
            </a:r>
            <a:r>
              <a:rPr i="1" lang="en-GB" sz="800">
                <a:solidFill>
                  <a:schemeClr val="accent5"/>
                </a:solidFill>
              </a:rPr>
              <a:t>Health Plus, </a:t>
            </a:r>
            <a:r>
              <a:rPr lang="en-GB" sz="800">
                <a:solidFill>
                  <a:schemeClr val="accent5"/>
                </a:solidFill>
              </a:rPr>
              <a:t>April, 2017 [Online] Available: </a:t>
            </a:r>
            <a:r>
              <a:rPr lang="en-GB" sz="800" u="sng">
                <a:solidFill>
                  <a:schemeClr val="accent5"/>
                </a:solidFill>
                <a:hlinkClick r:id="rId4">
                  <a:extLst>
                    <a:ext uri="{A12FA001-AC4F-418D-AE19-62706E023703}">
                      <ahyp:hlinkClr val="tx"/>
                    </a:ext>
                  </a:extLst>
                </a:hlinkClick>
              </a:rPr>
              <a:t>https://www.mountelizabeth.com.sg/healthplus/article/10-sports-injuries-with-lifelong-consequences</a:t>
            </a:r>
            <a:r>
              <a:rPr lang="en-GB" sz="800">
                <a:solidFill>
                  <a:schemeClr val="accent5"/>
                </a:solidFill>
              </a:rPr>
              <a:t> [Accessed Jun.7, 2022]</a:t>
            </a:r>
            <a:endParaRPr sz="800">
              <a:solidFill>
                <a:schemeClr val="accent5"/>
              </a:solidFill>
            </a:endParaRPr>
          </a:p>
          <a:p>
            <a:pPr indent="0" lvl="0" marL="0" rtl="0" algn="l">
              <a:spcBef>
                <a:spcPts val="1200"/>
              </a:spcBef>
              <a:spcAft>
                <a:spcPts val="0"/>
              </a:spcAft>
              <a:buNone/>
            </a:pPr>
            <a:r>
              <a:rPr lang="en-GB" sz="800">
                <a:solidFill>
                  <a:schemeClr val="accent5"/>
                </a:solidFill>
              </a:rPr>
              <a:t>[3] L. Rogan. “This 99-year-old lady from </a:t>
            </a:r>
            <a:r>
              <a:rPr lang="en-GB" sz="800">
                <a:solidFill>
                  <a:schemeClr val="accent5"/>
                </a:solidFill>
              </a:rPr>
              <a:t>middleton</a:t>
            </a:r>
            <a:r>
              <a:rPr lang="en-GB" sz="800">
                <a:solidFill>
                  <a:schemeClr val="accent5"/>
                </a:solidFill>
              </a:rPr>
              <a:t> has raised 15k walking 100 </a:t>
            </a:r>
            <a:r>
              <a:rPr lang="en-GB" sz="800">
                <a:solidFill>
                  <a:schemeClr val="accent5"/>
                </a:solidFill>
              </a:rPr>
              <a:t>lengths</a:t>
            </a:r>
            <a:r>
              <a:rPr lang="en-GB" sz="800">
                <a:solidFill>
                  <a:schemeClr val="accent5"/>
                </a:solidFill>
              </a:rPr>
              <a:t> for the NHS”, </a:t>
            </a:r>
            <a:r>
              <a:rPr i="1" lang="en-GB" sz="800">
                <a:solidFill>
                  <a:schemeClr val="accent5"/>
                </a:solidFill>
              </a:rPr>
              <a:t>Secret Manchester</a:t>
            </a:r>
            <a:r>
              <a:rPr lang="en-GB" sz="800">
                <a:solidFill>
                  <a:schemeClr val="accent5"/>
                </a:solidFill>
              </a:rPr>
              <a:t>, April 2020 [Online] Available: </a:t>
            </a:r>
            <a:r>
              <a:rPr lang="en-GB" sz="800" u="sng">
                <a:solidFill>
                  <a:schemeClr val="accent5"/>
                </a:solidFill>
                <a:hlinkClick r:id="rId5">
                  <a:extLst>
                    <a:ext uri="{A12FA001-AC4F-418D-AE19-62706E023703}">
                      <ahyp:hlinkClr val="tx"/>
                    </a:ext>
                  </a:extLst>
                </a:hlinkClick>
              </a:rPr>
              <a:t>https://secretmanchester.com/win-page-nhs-walk/</a:t>
            </a:r>
            <a:r>
              <a:rPr lang="en-GB" sz="800">
                <a:solidFill>
                  <a:schemeClr val="accent5"/>
                </a:solidFill>
              </a:rPr>
              <a:t> </a:t>
            </a:r>
            <a:r>
              <a:rPr lang="en-GB" sz="800">
                <a:solidFill>
                  <a:schemeClr val="accent5"/>
                </a:solidFill>
              </a:rPr>
              <a:t>[Accessed Jun.7, 2022]</a:t>
            </a:r>
            <a:endParaRPr sz="800">
              <a:solidFill>
                <a:schemeClr val="accent5"/>
              </a:solidFill>
            </a:endParaRPr>
          </a:p>
          <a:p>
            <a:pPr indent="0" lvl="0" marL="0" rtl="0" algn="l">
              <a:spcBef>
                <a:spcPts val="1200"/>
              </a:spcBef>
              <a:spcAft>
                <a:spcPts val="0"/>
              </a:spcAft>
              <a:buNone/>
            </a:pPr>
            <a:r>
              <a:rPr lang="en-GB" sz="800">
                <a:solidFill>
                  <a:schemeClr val="accent5"/>
                </a:solidFill>
              </a:rPr>
              <a:t>[4] Mayo Clinic Staff, “Alzheimer’s stages: how the disease progresses”, </a:t>
            </a:r>
            <a:r>
              <a:rPr i="1" lang="en-GB" sz="800">
                <a:solidFill>
                  <a:schemeClr val="accent5"/>
                </a:solidFill>
              </a:rPr>
              <a:t>Mayo Clinc</a:t>
            </a:r>
            <a:r>
              <a:rPr lang="en-GB" sz="800">
                <a:solidFill>
                  <a:schemeClr val="accent5"/>
                </a:solidFill>
              </a:rPr>
              <a:t>, April 2021 [Online] Available: </a:t>
            </a:r>
            <a:r>
              <a:rPr lang="en-GB" sz="800" u="sng">
                <a:solidFill>
                  <a:schemeClr val="accent5"/>
                </a:solidFill>
                <a:hlinkClick r:id="rId6">
                  <a:extLst>
                    <a:ext uri="{A12FA001-AC4F-418D-AE19-62706E023703}">
                      <ahyp:hlinkClr val="tx"/>
                    </a:ext>
                  </a:extLst>
                </a:hlinkClick>
              </a:rPr>
              <a:t>https://www.mayoclinic.org/diseases-conditions/alzheimers-disease/in-depth/alzheimers-stages/art-20048448</a:t>
            </a:r>
            <a:r>
              <a:rPr lang="en-GB" sz="800">
                <a:solidFill>
                  <a:schemeClr val="accent5"/>
                </a:solidFill>
              </a:rPr>
              <a:t> </a:t>
            </a:r>
            <a:r>
              <a:rPr lang="en-GB" sz="800">
                <a:solidFill>
                  <a:schemeClr val="accent5"/>
                </a:solidFill>
              </a:rPr>
              <a:t>[Accessed Jun.7, 2022]</a:t>
            </a:r>
            <a:r>
              <a:rPr lang="en-GB" sz="800">
                <a:solidFill>
                  <a:schemeClr val="accent5"/>
                </a:solidFill>
              </a:rPr>
              <a:t>  </a:t>
            </a:r>
            <a:endParaRPr sz="800">
              <a:solidFill>
                <a:schemeClr val="accent5"/>
              </a:solidFill>
            </a:endParaRPr>
          </a:p>
          <a:p>
            <a:pPr indent="0" lvl="0" marL="0" rtl="0" algn="l">
              <a:spcBef>
                <a:spcPts val="1200"/>
              </a:spcBef>
              <a:spcAft>
                <a:spcPts val="0"/>
              </a:spcAft>
              <a:buNone/>
            </a:pPr>
            <a:r>
              <a:rPr lang="en-GB" sz="800">
                <a:solidFill>
                  <a:schemeClr val="accent5"/>
                </a:solidFill>
              </a:rPr>
              <a:t>[5] A. Turner, “How many people have smartphones worldwide (Jun 2022),” </a:t>
            </a:r>
            <a:r>
              <a:rPr i="1" lang="en-GB" sz="800">
                <a:solidFill>
                  <a:schemeClr val="accent5"/>
                </a:solidFill>
              </a:rPr>
              <a:t>BankMyCell</a:t>
            </a:r>
            <a:r>
              <a:rPr lang="en-GB" sz="800">
                <a:solidFill>
                  <a:schemeClr val="accent5"/>
                </a:solidFill>
              </a:rPr>
              <a:t>, 01-Jun-2022. [Online]. Available: </a:t>
            </a:r>
            <a:r>
              <a:rPr lang="en-GB" sz="800" u="sng">
                <a:solidFill>
                  <a:schemeClr val="accent5"/>
                </a:solidFill>
                <a:hlinkClick r:id="rId7">
                  <a:extLst>
                    <a:ext uri="{A12FA001-AC4F-418D-AE19-62706E023703}">
                      <ahyp:hlinkClr val="tx"/>
                    </a:ext>
                  </a:extLst>
                </a:hlinkClick>
              </a:rPr>
              <a:t>https://www.bankmycell.com/blog/how-many-phones-are-in-the-world#:~:text=According%20to%20Statista%2C%20the%20current,world's%20population%20owns%20a%20smartphone</a:t>
            </a:r>
            <a:r>
              <a:rPr lang="en-GB" sz="800">
                <a:solidFill>
                  <a:schemeClr val="accent5"/>
                </a:solidFill>
              </a:rPr>
              <a:t>. </a:t>
            </a:r>
            <a:r>
              <a:rPr lang="en-GB" sz="800">
                <a:solidFill>
                  <a:schemeClr val="accent5"/>
                </a:solidFill>
              </a:rPr>
              <a:t>[Accessed Jun.7, 2022]</a:t>
            </a:r>
            <a:endParaRPr sz="800">
              <a:solidFill>
                <a:schemeClr val="accent5"/>
              </a:solidFill>
            </a:endParaRPr>
          </a:p>
          <a:p>
            <a:pPr indent="0" lvl="0" marL="0" rtl="0" algn="l">
              <a:spcBef>
                <a:spcPts val="1200"/>
              </a:spcBef>
              <a:spcAft>
                <a:spcPts val="1200"/>
              </a:spcAft>
              <a:buNone/>
            </a:pPr>
            <a:r>
              <a:t/>
            </a:r>
            <a:endParaRPr sz="800">
              <a:solidFill>
                <a:schemeClr val="accent5"/>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Q&amp;A</a:t>
            </a:r>
            <a:endParaRPr/>
          </a:p>
        </p:txBody>
      </p:sp>
      <p:pic>
        <p:nvPicPr>
          <p:cNvPr id="207" name="Google Shape;207;p23"/>
          <p:cNvPicPr preferRelativeResize="0"/>
          <p:nvPr/>
        </p:nvPicPr>
        <p:blipFill>
          <a:blip r:embed="rId3">
            <a:alphaModFix/>
          </a:blip>
          <a:stretch>
            <a:fillRect/>
          </a:stretch>
        </p:blipFill>
        <p:spPr>
          <a:xfrm>
            <a:off x="3246080" y="1590480"/>
            <a:ext cx="3026000" cy="3026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